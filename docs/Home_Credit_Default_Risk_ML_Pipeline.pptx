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8" d="100"/>
          <a:sy n="128" d="100"/>
        </p:scale>
        <p:origin x="48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Non-empty LOC</c:v>
                </c:pt>
              </c:strCache>
            </c:strRef>
          </c:tx>
          <c:spPr>
            <a:solidFill>
              <a:srgbClr val="00E5FF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config.py</c:v>
                </c:pt>
                <c:pt idx="1">
                  <c:v>data_processing.py</c:v>
                </c:pt>
                <c:pt idx="2">
                  <c:v>modeling.py</c:v>
                </c:pt>
                <c:pt idx="3">
                  <c:v>visualization.py</c:v>
                </c:pt>
                <c:pt idx="4">
                  <c:v>orchestrator.py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50</c:v>
                </c:pt>
                <c:pt idx="1">
                  <c:v>35</c:v>
                </c:pt>
                <c:pt idx="2">
                  <c:v>84</c:v>
                </c:pt>
                <c:pt idx="3">
                  <c:v>115</c:v>
                </c:pt>
                <c:pt idx="4">
                  <c:v>60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CB1-844B-98C2-84EA3B3A0CF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D7DEFF"/>
                </a:solidFill>
                <a:latin typeface="Arial"/>
              </a:defRPr>
            </a:pPr>
            <a:endParaRPr lang="en-HU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D7DEFF"/>
                </a:solidFill>
                <a:latin typeface="Arial"/>
              </a:defRPr>
            </a:pPr>
            <a:endParaRPr lang="en-HU"/>
          </a:p>
        </c:txPr>
        <c:crossAx val="2094734554"/>
        <c:crosses val="autoZero"/>
        <c:crossBetween val="between"/>
      </c:valAx>
      <c:spPr>
        <a:solidFill>
          <a:srgbClr val="0F1730"/>
        </a:solidFill>
        <a:ln w="12700" cap="flat">
          <a:solidFill>
            <a:srgbClr val="25304F"/>
          </a:solidFill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181812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Enhanced visual theme with Unsplash hero image.
[Sources]
- https://unsplash.com/photos/trading-charts-displayed-on-multiple-screens-and-tablet-vKNRKjSNbTo (hero background)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Unsplash hero background used for visual emphasis.
[Sources]
- https://unsplash.com/photos/trader-analyzing-stock-market-charts-on-multiple-screens-j_hho1mE47s (hero background)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Includes Unsplash image in the right-side panel.
[Sources]
- https://unsplash.com/photos/trader-analyzing-stock-market-charts-on-multiple-screens-j_hho1mE47s (image panel)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  <p:txBody>
          <a:bodyPr/>
          <a:lstStyle/>
          <a:p>
            <a:endParaRPr lang="en-HU"/>
          </a:p>
        </p:txBody>
      </p:sp>
      <p:pic>
        <p:nvPicPr>
          <p:cNvPr id="3" name="Image 0" descr="/mnt/data/slide_assets/unsplash_trading_tablet_1800.png"/>
          <p:cNvPicPr>
            <a:picLocks noChangeAspect="1"/>
          </p:cNvPicPr>
          <p:nvPr/>
        </p:nvPicPr>
        <p:blipFill>
          <a:blip r:embed="rId3"/>
          <a:srcRect t="31243" b="31243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>
              <a:alpha val="65000"/>
            </a:srgbClr>
          </a:solidFill>
          <a:ln w="12700">
            <a:solidFill>
              <a:srgbClr val="0B102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HU"/>
          </a:p>
        </p:txBody>
      </p:sp>
      <p:sp>
        <p:nvSpPr>
          <p:cNvPr id="5" name="Shape 2"/>
          <p:cNvSpPr/>
          <p:nvPr/>
        </p:nvSpPr>
        <p:spPr>
          <a:xfrm>
            <a:off x="502920" y="1417320"/>
            <a:ext cx="6720840" cy="2971800"/>
          </a:xfrm>
          <a:prstGeom prst="roundRect">
            <a:avLst/>
          </a:prstGeom>
          <a:solidFill>
            <a:srgbClr val="111A33">
              <a:alpha val="82000"/>
            </a:srgbClr>
          </a:solidFill>
          <a:ln w="12700">
            <a:solidFill>
              <a:srgbClr val="25304F">
                <a:alpha val="45000"/>
              </a:srgbClr>
            </a:solidFill>
            <a:prstDash val="solid"/>
          </a:ln>
          <a:effectLst>
            <a:outerShdw blurRad="50800" dist="17780" dir="2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HU"/>
          </a:p>
        </p:txBody>
      </p:sp>
      <p:sp>
        <p:nvSpPr>
          <p:cNvPr id="6" name="Shape 3"/>
          <p:cNvSpPr/>
          <p:nvPr/>
        </p:nvSpPr>
        <p:spPr>
          <a:xfrm rot="-480000">
            <a:off x="137160" y="1143000"/>
            <a:ext cx="7772400" cy="201168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HU"/>
          </a:p>
        </p:txBody>
      </p:sp>
      <p:sp>
        <p:nvSpPr>
          <p:cNvPr id="7" name="Text 4"/>
          <p:cNvSpPr/>
          <p:nvPr/>
        </p:nvSpPr>
        <p:spPr>
          <a:xfrm>
            <a:off x="822960" y="1645920"/>
            <a:ext cx="63093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5200" b="1" dirty="0">
                <a:solidFill>
                  <a:srgbClr val="F3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Credit</a:t>
            </a:r>
            <a:endParaRPr lang="en-US" sz="5200" dirty="0"/>
          </a:p>
          <a:p>
            <a:pPr marL="0" indent="0">
              <a:lnSpc>
                <a:spcPct val="95000"/>
              </a:lnSpc>
              <a:buNone/>
            </a:pPr>
            <a:r>
              <a:rPr lang="en-US" sz="5200" b="1" dirty="0">
                <a:solidFill>
                  <a:srgbClr val="F3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Risk</a:t>
            </a:r>
            <a:endParaRPr lang="en-US" sz="5200" dirty="0"/>
          </a:p>
        </p:txBody>
      </p:sp>
      <p:sp>
        <p:nvSpPr>
          <p:cNvPr id="8" name="Text 5"/>
          <p:cNvSpPr/>
          <p:nvPr/>
        </p:nvSpPr>
        <p:spPr>
          <a:xfrm>
            <a:off x="850392" y="3063240"/>
            <a:ext cx="6309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D7D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Machine Learning Pipeline (Python)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850392" y="3520440"/>
            <a:ext cx="6309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raw CSV → clean features → validated model → plots → submission-ready predictions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9098280" y="1691640"/>
            <a:ext cx="2148840" cy="1143000"/>
          </a:xfrm>
          <a:prstGeom prst="roundRect">
            <a:avLst/>
          </a:prstGeom>
          <a:solidFill>
            <a:srgbClr val="111A33"/>
          </a:solidFill>
          <a:ln w="12700">
            <a:solidFill>
              <a:srgbClr val="25304F">
                <a:alpha val="65000"/>
              </a:srgbClr>
            </a:solidFill>
            <a:prstDash val="solid"/>
          </a:ln>
          <a:effectLst>
            <a:outerShdw blurRad="38100" dist="1397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HU"/>
          </a:p>
        </p:txBody>
      </p:sp>
      <p:sp>
        <p:nvSpPr>
          <p:cNvPr id="11" name="Shape 8"/>
          <p:cNvSpPr/>
          <p:nvPr/>
        </p:nvSpPr>
        <p:spPr>
          <a:xfrm>
            <a:off x="9098280" y="1691640"/>
            <a:ext cx="2148840" cy="82296"/>
          </a:xfrm>
          <a:prstGeom prst="roundRect">
            <a:avLst/>
          </a:prstGeom>
          <a:solidFill>
            <a:srgbClr val="FF2D95"/>
          </a:solidFill>
          <a:ln w="12700">
            <a:solidFill>
              <a:srgbClr val="FF2D9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HU"/>
          </a:p>
        </p:txBody>
      </p:sp>
      <p:sp>
        <p:nvSpPr>
          <p:cNvPr id="12" name="Text 9"/>
          <p:cNvSpPr/>
          <p:nvPr/>
        </p:nvSpPr>
        <p:spPr>
          <a:xfrm>
            <a:off x="9098280" y="1947672"/>
            <a:ext cx="2148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3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</a:t>
            </a:r>
            <a:endParaRPr lang="en-US" sz="3200" dirty="0"/>
          </a:p>
        </p:txBody>
      </p:sp>
      <p:sp>
        <p:nvSpPr>
          <p:cNvPr id="13" name="Text 10"/>
          <p:cNvSpPr/>
          <p:nvPr/>
        </p:nvSpPr>
        <p:spPr>
          <a:xfrm>
            <a:off x="9235440" y="2514600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 (ROC-AUC)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9098280" y="3063240"/>
            <a:ext cx="2148840" cy="1143000"/>
          </a:xfrm>
          <a:prstGeom prst="roundRect">
            <a:avLst/>
          </a:prstGeom>
          <a:solidFill>
            <a:srgbClr val="111A33"/>
          </a:solidFill>
          <a:ln w="12700">
            <a:solidFill>
              <a:srgbClr val="25304F">
                <a:alpha val="65000"/>
              </a:srgbClr>
            </a:solidFill>
            <a:prstDash val="solid"/>
          </a:ln>
          <a:effectLst>
            <a:outerShdw blurRad="38100" dist="1397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HU"/>
          </a:p>
        </p:txBody>
      </p:sp>
      <p:sp>
        <p:nvSpPr>
          <p:cNvPr id="15" name="Shape 12"/>
          <p:cNvSpPr/>
          <p:nvPr/>
        </p:nvSpPr>
        <p:spPr>
          <a:xfrm>
            <a:off x="9098280" y="3063240"/>
            <a:ext cx="2148840" cy="82296"/>
          </a:xfrm>
          <a:prstGeom prst="roundRect">
            <a:avLst/>
          </a:prstGeom>
          <a:solidFill>
            <a:srgbClr val="00E5FF"/>
          </a:solidFill>
          <a:ln w="12700">
            <a:solidFill>
              <a:srgbClr val="00E5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HU"/>
          </a:p>
        </p:txBody>
      </p:sp>
      <p:sp>
        <p:nvSpPr>
          <p:cNvPr id="16" name="Text 13"/>
          <p:cNvSpPr/>
          <p:nvPr/>
        </p:nvSpPr>
        <p:spPr>
          <a:xfrm>
            <a:off x="9098280" y="3319272"/>
            <a:ext cx="2148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3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</a:t>
            </a:r>
            <a:endParaRPr lang="en-US" sz="3200" dirty="0"/>
          </a:p>
        </p:txBody>
      </p:sp>
      <p:sp>
        <p:nvSpPr>
          <p:cNvPr id="17" name="Text 14"/>
          <p:cNvSpPr/>
          <p:nvPr/>
        </p:nvSpPr>
        <p:spPr>
          <a:xfrm>
            <a:off x="9235440" y="3886200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execution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9098280" y="4434840"/>
            <a:ext cx="2148840" cy="1143000"/>
          </a:xfrm>
          <a:prstGeom prst="roundRect">
            <a:avLst/>
          </a:prstGeom>
          <a:solidFill>
            <a:srgbClr val="111A33"/>
          </a:solidFill>
          <a:ln w="12700">
            <a:solidFill>
              <a:srgbClr val="25304F">
                <a:alpha val="65000"/>
              </a:srgbClr>
            </a:solidFill>
            <a:prstDash val="solid"/>
          </a:ln>
          <a:effectLst>
            <a:outerShdw blurRad="38100" dist="1397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HU"/>
          </a:p>
        </p:txBody>
      </p:sp>
      <p:sp>
        <p:nvSpPr>
          <p:cNvPr id="19" name="Shape 16"/>
          <p:cNvSpPr/>
          <p:nvPr/>
        </p:nvSpPr>
        <p:spPr>
          <a:xfrm>
            <a:off x="9098280" y="4434840"/>
            <a:ext cx="2148840" cy="82296"/>
          </a:xfrm>
          <a:prstGeom prst="roundRect">
            <a:avLst/>
          </a:prstGeom>
          <a:solidFill>
            <a:srgbClr val="A3FF12"/>
          </a:solidFill>
          <a:ln w="12700">
            <a:solidFill>
              <a:srgbClr val="A3FF1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HU"/>
          </a:p>
        </p:txBody>
      </p:sp>
      <p:sp>
        <p:nvSpPr>
          <p:cNvPr id="20" name="Text 17"/>
          <p:cNvSpPr/>
          <p:nvPr/>
        </p:nvSpPr>
        <p:spPr>
          <a:xfrm>
            <a:off x="9098280" y="4690872"/>
            <a:ext cx="2148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3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Plots</a:t>
            </a:r>
            <a:endParaRPr lang="en-US" sz="3200" dirty="0"/>
          </a:p>
        </p:txBody>
      </p:sp>
      <p:sp>
        <p:nvSpPr>
          <p:cNvPr id="21" name="Text 18"/>
          <p:cNvSpPr/>
          <p:nvPr/>
        </p:nvSpPr>
        <p:spPr>
          <a:xfrm>
            <a:off x="9235440" y="5257800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Diagnostics + explainability</a:t>
            </a:r>
            <a:endParaRPr lang="en-US" sz="1100" dirty="0"/>
          </a:p>
        </p:txBody>
      </p:sp>
      <p:sp>
        <p:nvSpPr>
          <p:cNvPr id="23" name="Shape 19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1020">
              <a:alpha val="90000"/>
            </a:srgbClr>
          </a:solidFill>
          <a:ln w="12700">
            <a:solidFill>
              <a:srgbClr val="0B102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HU"/>
          </a:p>
        </p:txBody>
      </p:sp>
      <p:sp>
        <p:nvSpPr>
          <p:cNvPr id="24" name="Text 20"/>
          <p:cNvSpPr/>
          <p:nvPr/>
        </p:nvSpPr>
        <p:spPr>
          <a:xfrm>
            <a:off x="502920" y="6620256"/>
            <a:ext cx="816833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Credit Default Risk • ML Pipeline (Python)</a:t>
            </a:r>
            <a:endParaRPr lang="en-US" sz="1000" dirty="0"/>
          </a:p>
        </p:txBody>
      </p:sp>
      <p:sp>
        <p:nvSpPr>
          <p:cNvPr id="25" name="Shape 21"/>
          <p:cNvSpPr/>
          <p:nvPr/>
        </p:nvSpPr>
        <p:spPr>
          <a:xfrm>
            <a:off x="9677095" y="6629400"/>
            <a:ext cx="2011680" cy="128016"/>
          </a:xfrm>
          <a:prstGeom prst="roundRect">
            <a:avLst/>
          </a:prstGeom>
          <a:solidFill>
            <a:srgbClr val="0F1730"/>
          </a:solidFill>
          <a:ln w="12700">
            <a:solidFill>
              <a:srgbClr val="25304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HU"/>
          </a:p>
        </p:txBody>
      </p:sp>
      <p:sp>
        <p:nvSpPr>
          <p:cNvPr id="26" name="Shape 22"/>
          <p:cNvSpPr/>
          <p:nvPr/>
        </p:nvSpPr>
        <p:spPr>
          <a:xfrm>
            <a:off x="9677095" y="6629400"/>
            <a:ext cx="201168" cy="128016"/>
          </a:xfrm>
          <a:prstGeom prst="roundRect">
            <a:avLst/>
          </a:prstGeom>
          <a:solidFill>
            <a:srgbClr val="00E5FF"/>
          </a:solidFill>
          <a:ln w="12700">
            <a:solidFill>
              <a:srgbClr val="00E5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HU"/>
          </a:p>
        </p:txBody>
      </p:sp>
      <p:sp>
        <p:nvSpPr>
          <p:cNvPr id="27" name="Text 23"/>
          <p:cNvSpPr/>
          <p:nvPr/>
        </p:nvSpPr>
        <p:spPr>
          <a:xfrm>
            <a:off x="8945575" y="6592824"/>
            <a:ext cx="685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1/10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  <p:txBody>
          <a:bodyPr/>
          <a:lstStyle/>
          <a:p>
            <a:endParaRPr lang="en-HU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0E5FF">
              <a:alpha val="86000"/>
            </a:srgbClr>
          </a:solidFill>
          <a:ln w="12700">
            <a:solidFill>
              <a:srgbClr val="00E5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HU"/>
          </a:p>
        </p:txBody>
      </p:sp>
      <p:sp>
        <p:nvSpPr>
          <p:cNvPr id="4" name="Shape 2"/>
          <p:cNvSpPr/>
          <p:nvPr/>
        </p:nvSpPr>
        <p:spPr>
          <a:xfrm>
            <a:off x="0" y="749808"/>
            <a:ext cx="12191695" cy="54864"/>
          </a:xfrm>
          <a:prstGeom prst="rect">
            <a:avLst/>
          </a:prstGeom>
          <a:solidFill>
            <a:srgbClr val="FF2D95"/>
          </a:solidFill>
          <a:ln w="12700">
            <a:solidFill>
              <a:srgbClr val="FF2D9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HU"/>
          </a:p>
        </p:txBody>
      </p:sp>
      <p:sp>
        <p:nvSpPr>
          <p:cNvPr id="5" name="Shape 3"/>
          <p:cNvSpPr/>
          <p:nvPr/>
        </p:nvSpPr>
        <p:spPr>
          <a:xfrm>
            <a:off x="0" y="804672"/>
            <a:ext cx="12191695" cy="36576"/>
          </a:xfrm>
          <a:prstGeom prst="rect">
            <a:avLst/>
          </a:prstGeom>
          <a:solidFill>
            <a:srgbClr val="A3FF12"/>
          </a:solidFill>
          <a:ln w="12700">
            <a:solidFill>
              <a:srgbClr val="A3FF1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HU"/>
          </a:p>
        </p:txBody>
      </p:sp>
      <p:sp>
        <p:nvSpPr>
          <p:cNvPr id="6" name="Shape 4"/>
          <p:cNvSpPr/>
          <p:nvPr/>
        </p:nvSpPr>
        <p:spPr>
          <a:xfrm>
            <a:off x="502920" y="320040"/>
            <a:ext cx="4681728" cy="384048"/>
          </a:xfrm>
          <a:prstGeom prst="roundRect">
            <a:avLst/>
          </a:prstGeom>
          <a:solidFill>
            <a:srgbClr val="111A33"/>
          </a:solidFill>
          <a:ln w="12700">
            <a:solidFill>
              <a:srgbClr val="25304F">
                <a:alpha val="70000"/>
              </a:srgbClr>
            </a:solidFill>
            <a:prstDash val="solid"/>
          </a:ln>
          <a:effectLst>
            <a:outerShdw blurRad="38100" dist="1524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HU"/>
          </a:p>
        </p:txBody>
      </p:sp>
      <p:sp>
        <p:nvSpPr>
          <p:cNvPr id="7" name="Text 5"/>
          <p:cNvSpPr/>
          <p:nvPr/>
        </p:nvSpPr>
        <p:spPr>
          <a:xfrm>
            <a:off x="667512" y="374904"/>
            <a:ext cx="43525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3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10515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3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02920" y="1417320"/>
            <a:ext cx="56692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clean, modular ML workflow to estimate the probability that an applicant will have difficulty repaying a loan (TARGET = 1).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for reproducibility and extension (baseline → boosted model), with rich evaluation artifacts.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0" y="1051560"/>
            <a:ext cx="5285232" cy="1572768"/>
          </a:xfrm>
          <a:prstGeom prst="roundRect">
            <a:avLst/>
          </a:prstGeom>
          <a:solidFill>
            <a:srgbClr val="111A33"/>
          </a:solidFill>
          <a:ln w="12700">
            <a:solidFill>
              <a:srgbClr val="25304F">
                <a:alpha val="60000"/>
              </a:srgbClr>
            </a:solidFill>
            <a:prstDash val="solid"/>
          </a:ln>
          <a:effectLst>
            <a:outerShdw blurRad="38100" dist="1524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HU"/>
          </a:p>
        </p:txBody>
      </p:sp>
      <p:sp>
        <p:nvSpPr>
          <p:cNvPr id="11" name="Shape 9"/>
          <p:cNvSpPr/>
          <p:nvPr/>
        </p:nvSpPr>
        <p:spPr>
          <a:xfrm>
            <a:off x="6400800" y="1051560"/>
            <a:ext cx="91440" cy="1572768"/>
          </a:xfrm>
          <a:prstGeom prst="roundRect">
            <a:avLst/>
          </a:prstGeom>
          <a:solidFill>
            <a:srgbClr val="6C5CE7"/>
          </a:solidFill>
          <a:ln w="12700">
            <a:solidFill>
              <a:srgbClr val="6C5CE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HU"/>
          </a:p>
        </p:txBody>
      </p:sp>
      <p:sp>
        <p:nvSpPr>
          <p:cNvPr id="12" name="Text 10"/>
          <p:cNvSpPr/>
          <p:nvPr/>
        </p:nvSpPr>
        <p:spPr>
          <a:xfrm>
            <a:off x="6601968" y="1216152"/>
            <a:ext cx="49743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3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601968" y="1618488"/>
            <a:ext cx="4974336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application_train.csv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application_test.csv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Configurable CV folds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Optional LightGBM acceleration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0" y="2761488"/>
            <a:ext cx="5285232" cy="1572768"/>
          </a:xfrm>
          <a:prstGeom prst="roundRect">
            <a:avLst/>
          </a:prstGeom>
          <a:solidFill>
            <a:srgbClr val="111A33"/>
          </a:solidFill>
          <a:ln w="12700">
            <a:solidFill>
              <a:srgbClr val="25304F">
                <a:alpha val="60000"/>
              </a:srgbClr>
            </a:solidFill>
            <a:prstDash val="solid"/>
          </a:ln>
          <a:effectLst>
            <a:outerShdw blurRad="38100" dist="1524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HU"/>
          </a:p>
        </p:txBody>
      </p:sp>
      <p:sp>
        <p:nvSpPr>
          <p:cNvPr id="15" name="Shape 13"/>
          <p:cNvSpPr/>
          <p:nvPr/>
        </p:nvSpPr>
        <p:spPr>
          <a:xfrm>
            <a:off x="6400800" y="2761488"/>
            <a:ext cx="91440" cy="1572768"/>
          </a:xfrm>
          <a:prstGeom prst="roundRect">
            <a:avLst/>
          </a:prstGeom>
          <a:solidFill>
            <a:srgbClr val="FF2D95"/>
          </a:solidFill>
          <a:ln w="12700">
            <a:solidFill>
              <a:srgbClr val="FF2D9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HU"/>
          </a:p>
        </p:txBody>
      </p:sp>
      <p:sp>
        <p:nvSpPr>
          <p:cNvPr id="16" name="Text 14"/>
          <p:cNvSpPr/>
          <p:nvPr/>
        </p:nvSpPr>
        <p:spPr>
          <a:xfrm>
            <a:off x="6601968" y="2926080"/>
            <a:ext cx="49743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3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601968" y="3328416"/>
            <a:ext cx="4974336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Submission-ready CSV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ROC curve + AUC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Feature importance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Train vs test score distributions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400800" y="4471416"/>
            <a:ext cx="5285232" cy="1572768"/>
          </a:xfrm>
          <a:prstGeom prst="roundRect">
            <a:avLst/>
          </a:prstGeom>
          <a:solidFill>
            <a:srgbClr val="111A33"/>
          </a:solidFill>
          <a:ln w="12700">
            <a:solidFill>
              <a:srgbClr val="25304F">
                <a:alpha val="60000"/>
              </a:srgbClr>
            </a:solidFill>
            <a:prstDash val="solid"/>
          </a:ln>
          <a:effectLst>
            <a:outerShdw blurRad="38100" dist="1524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HU"/>
          </a:p>
        </p:txBody>
      </p:sp>
      <p:sp>
        <p:nvSpPr>
          <p:cNvPr id="19" name="Shape 17"/>
          <p:cNvSpPr/>
          <p:nvPr/>
        </p:nvSpPr>
        <p:spPr>
          <a:xfrm>
            <a:off x="6400800" y="4471416"/>
            <a:ext cx="91440" cy="1572768"/>
          </a:xfrm>
          <a:prstGeom prst="roundRect">
            <a:avLst/>
          </a:prstGeom>
          <a:solidFill>
            <a:srgbClr val="A3FF12"/>
          </a:solidFill>
          <a:ln w="12700">
            <a:solidFill>
              <a:srgbClr val="A3FF1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HU"/>
          </a:p>
        </p:txBody>
      </p:sp>
      <p:sp>
        <p:nvSpPr>
          <p:cNvPr id="20" name="Text 18"/>
          <p:cNvSpPr/>
          <p:nvPr/>
        </p:nvSpPr>
        <p:spPr>
          <a:xfrm>
            <a:off x="6601968" y="4636008"/>
            <a:ext cx="49743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3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Controls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601968" y="5038344"/>
            <a:ext cx="4974336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Stratified K-Fold CV (ROC-AUC)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Robust encoding for unseen categories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Timestamped artifacts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Unit tests for key logic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02920" y="3749040"/>
            <a:ext cx="5715000" cy="2514600"/>
          </a:xfrm>
          <a:prstGeom prst="roundRect">
            <a:avLst/>
          </a:prstGeom>
          <a:solidFill>
            <a:srgbClr val="0F1730"/>
          </a:solidFill>
          <a:ln w="12700">
            <a:solidFill>
              <a:srgbClr val="25304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HU"/>
          </a:p>
        </p:txBody>
      </p:sp>
      <p:pic>
        <p:nvPicPr>
          <p:cNvPr id="23" name="Image 0" descr="/mnt/data/hc_montage.png"/>
          <p:cNvPicPr>
            <a:picLocks noChangeAspect="1"/>
          </p:cNvPicPr>
          <p:nvPr/>
        </p:nvPicPr>
        <p:blipFill>
          <a:blip r:embed="rId3">
            <a:alphaModFix amt="88000"/>
          </a:blip>
          <a:srcRect l="21266" r="21266"/>
          <a:stretch/>
        </p:blipFill>
        <p:spPr>
          <a:xfrm>
            <a:off x="502920" y="3749040"/>
            <a:ext cx="5715000" cy="2514600"/>
          </a:xfrm>
          <a:prstGeom prst="rect">
            <a:avLst/>
          </a:prstGeom>
        </p:spPr>
      </p:pic>
      <p:sp>
        <p:nvSpPr>
          <p:cNvPr id="24" name="Shape 21"/>
          <p:cNvSpPr/>
          <p:nvPr/>
        </p:nvSpPr>
        <p:spPr>
          <a:xfrm>
            <a:off x="502920" y="3749040"/>
            <a:ext cx="5715000" cy="2514600"/>
          </a:xfrm>
          <a:prstGeom prst="rect">
            <a:avLst/>
          </a:prstGeom>
          <a:solidFill>
            <a:srgbClr val="0B1020">
              <a:alpha val="40000"/>
            </a:srgbClr>
          </a:solidFill>
          <a:ln w="12700">
            <a:solidFill>
              <a:srgbClr val="0B102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HU"/>
          </a:p>
        </p:txBody>
      </p:sp>
      <p:sp>
        <p:nvSpPr>
          <p:cNvPr id="25" name="Text 22"/>
          <p:cNvSpPr/>
          <p:nvPr/>
        </p:nvSpPr>
        <p:spPr>
          <a:xfrm>
            <a:off x="822960" y="5760720"/>
            <a:ext cx="5074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7D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idea: make the pipeline easy to run, audit, and improve.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1020">
              <a:alpha val="90000"/>
            </a:srgbClr>
          </a:solidFill>
          <a:ln w="12700">
            <a:solidFill>
              <a:srgbClr val="0B102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HU"/>
          </a:p>
        </p:txBody>
      </p:sp>
      <p:sp>
        <p:nvSpPr>
          <p:cNvPr id="27" name="Text 24"/>
          <p:cNvSpPr/>
          <p:nvPr/>
        </p:nvSpPr>
        <p:spPr>
          <a:xfrm>
            <a:off x="502920" y="6620256"/>
            <a:ext cx="816833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Credit Default Risk • ML Pipeline (Python)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9677095" y="6629400"/>
            <a:ext cx="2011680" cy="128016"/>
          </a:xfrm>
          <a:prstGeom prst="roundRect">
            <a:avLst/>
          </a:prstGeom>
          <a:solidFill>
            <a:srgbClr val="0F1730"/>
          </a:solidFill>
          <a:ln w="12700">
            <a:solidFill>
              <a:srgbClr val="25304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HU"/>
          </a:p>
        </p:txBody>
      </p:sp>
      <p:sp>
        <p:nvSpPr>
          <p:cNvPr id="29" name="Shape 26"/>
          <p:cNvSpPr/>
          <p:nvPr/>
        </p:nvSpPr>
        <p:spPr>
          <a:xfrm>
            <a:off x="9677095" y="6629400"/>
            <a:ext cx="402336" cy="128016"/>
          </a:xfrm>
          <a:prstGeom prst="roundRect">
            <a:avLst/>
          </a:prstGeom>
          <a:solidFill>
            <a:srgbClr val="00E5FF"/>
          </a:solidFill>
          <a:ln w="12700">
            <a:solidFill>
              <a:srgbClr val="00E5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HU"/>
          </a:p>
        </p:txBody>
      </p:sp>
      <p:sp>
        <p:nvSpPr>
          <p:cNvPr id="30" name="Text 27"/>
          <p:cNvSpPr/>
          <p:nvPr/>
        </p:nvSpPr>
        <p:spPr>
          <a:xfrm>
            <a:off x="8945575" y="6592824"/>
            <a:ext cx="685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2/10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  <p:txBody>
          <a:bodyPr/>
          <a:lstStyle/>
          <a:p>
            <a:endParaRPr lang="en-HU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FF2D95">
              <a:alpha val="86000"/>
            </a:srgbClr>
          </a:solidFill>
          <a:ln w="12700">
            <a:solidFill>
              <a:srgbClr val="FF2D9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HU"/>
          </a:p>
        </p:txBody>
      </p:sp>
      <p:sp>
        <p:nvSpPr>
          <p:cNvPr id="4" name="Shape 2"/>
          <p:cNvSpPr/>
          <p:nvPr/>
        </p:nvSpPr>
        <p:spPr>
          <a:xfrm>
            <a:off x="0" y="749808"/>
            <a:ext cx="12191695" cy="54864"/>
          </a:xfrm>
          <a:prstGeom prst="rect">
            <a:avLst/>
          </a:prstGeom>
          <a:solidFill>
            <a:srgbClr val="FF2D95"/>
          </a:solidFill>
          <a:ln w="12700">
            <a:solidFill>
              <a:srgbClr val="FF2D9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HU"/>
          </a:p>
        </p:txBody>
      </p:sp>
      <p:sp>
        <p:nvSpPr>
          <p:cNvPr id="5" name="Shape 3"/>
          <p:cNvSpPr/>
          <p:nvPr/>
        </p:nvSpPr>
        <p:spPr>
          <a:xfrm>
            <a:off x="0" y="804672"/>
            <a:ext cx="12191695" cy="36576"/>
          </a:xfrm>
          <a:prstGeom prst="rect">
            <a:avLst/>
          </a:prstGeom>
          <a:solidFill>
            <a:srgbClr val="A3FF12"/>
          </a:solidFill>
          <a:ln w="12700">
            <a:solidFill>
              <a:srgbClr val="A3FF1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HU"/>
          </a:p>
        </p:txBody>
      </p:sp>
      <p:sp>
        <p:nvSpPr>
          <p:cNvPr id="6" name="Shape 4"/>
          <p:cNvSpPr/>
          <p:nvPr/>
        </p:nvSpPr>
        <p:spPr>
          <a:xfrm>
            <a:off x="502920" y="320040"/>
            <a:ext cx="4754880" cy="384048"/>
          </a:xfrm>
          <a:prstGeom prst="roundRect">
            <a:avLst/>
          </a:prstGeom>
          <a:solidFill>
            <a:srgbClr val="111A33"/>
          </a:solidFill>
          <a:ln w="12700">
            <a:solidFill>
              <a:srgbClr val="25304F">
                <a:alpha val="70000"/>
              </a:srgbClr>
            </a:solidFill>
            <a:prstDash val="solid"/>
          </a:ln>
          <a:effectLst>
            <a:outerShdw blurRad="38100" dist="1524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HU"/>
          </a:p>
        </p:txBody>
      </p:sp>
      <p:sp>
        <p:nvSpPr>
          <p:cNvPr id="7" name="Text 5"/>
          <p:cNvSpPr/>
          <p:nvPr/>
        </p:nvSpPr>
        <p:spPr>
          <a:xfrm>
            <a:off x="667512" y="374904"/>
            <a:ext cx="442569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3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&amp; Modules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1051560"/>
            <a:ext cx="5852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3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design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502920" y="1554480"/>
            <a:ext cx="5669280" cy="694944"/>
          </a:xfrm>
          <a:prstGeom prst="roundRect">
            <a:avLst/>
          </a:prstGeom>
          <a:solidFill>
            <a:srgbClr val="111A33"/>
          </a:solidFill>
          <a:ln w="12700">
            <a:solidFill>
              <a:srgbClr val="25304F">
                <a:alpha val="55000"/>
              </a:srgbClr>
            </a:solidFill>
            <a:prstDash val="solid"/>
          </a:ln>
          <a:effectLst>
            <a:outerShdw blurRad="25400" dist="1016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HU"/>
          </a:p>
        </p:txBody>
      </p:sp>
      <p:sp>
        <p:nvSpPr>
          <p:cNvPr id="10" name="Shape 8"/>
          <p:cNvSpPr/>
          <p:nvPr/>
        </p:nvSpPr>
        <p:spPr>
          <a:xfrm>
            <a:off x="502920" y="1554480"/>
            <a:ext cx="109728" cy="694944"/>
          </a:xfrm>
          <a:prstGeom prst="roundRect">
            <a:avLst/>
          </a:prstGeom>
          <a:solidFill>
            <a:srgbClr val="00E5FF"/>
          </a:solidFill>
          <a:ln w="12700">
            <a:solidFill>
              <a:srgbClr val="00E5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HU"/>
          </a:p>
        </p:txBody>
      </p:sp>
      <p:sp>
        <p:nvSpPr>
          <p:cNvPr id="11" name="Text 9"/>
          <p:cNvSpPr/>
          <p:nvPr/>
        </p:nvSpPr>
        <p:spPr>
          <a:xfrm>
            <a:off x="704088" y="1664208"/>
            <a:ext cx="5394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3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main.py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04088" y="1938528"/>
            <a:ext cx="5394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 CLI entry point (options, data path, folds, model selection)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02920" y="2340864"/>
            <a:ext cx="5669280" cy="694944"/>
          </a:xfrm>
          <a:prstGeom prst="roundRect">
            <a:avLst/>
          </a:prstGeom>
          <a:solidFill>
            <a:srgbClr val="111A33"/>
          </a:solidFill>
          <a:ln w="12700">
            <a:solidFill>
              <a:srgbClr val="25304F">
                <a:alpha val="55000"/>
              </a:srgbClr>
            </a:solidFill>
            <a:prstDash val="solid"/>
          </a:ln>
          <a:effectLst>
            <a:outerShdw blurRad="25400" dist="1016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HU"/>
          </a:p>
        </p:txBody>
      </p:sp>
      <p:sp>
        <p:nvSpPr>
          <p:cNvPr id="14" name="Shape 12"/>
          <p:cNvSpPr/>
          <p:nvPr/>
        </p:nvSpPr>
        <p:spPr>
          <a:xfrm>
            <a:off x="502920" y="2340864"/>
            <a:ext cx="109728" cy="694944"/>
          </a:xfrm>
          <a:prstGeom prst="roundRect">
            <a:avLst/>
          </a:prstGeom>
          <a:solidFill>
            <a:srgbClr val="6C5CE7"/>
          </a:solidFill>
          <a:ln w="12700">
            <a:solidFill>
              <a:srgbClr val="6C5CE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HU"/>
          </a:p>
        </p:txBody>
      </p:sp>
      <p:sp>
        <p:nvSpPr>
          <p:cNvPr id="15" name="Text 13"/>
          <p:cNvSpPr/>
          <p:nvPr/>
        </p:nvSpPr>
        <p:spPr>
          <a:xfrm>
            <a:off x="704088" y="2450592"/>
            <a:ext cx="5394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3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orchestrator.py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04088" y="2724912"/>
            <a:ext cx="5394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Coordinates end-to-end workflow and artifact generation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02920" y="3127248"/>
            <a:ext cx="5669280" cy="694944"/>
          </a:xfrm>
          <a:prstGeom prst="roundRect">
            <a:avLst/>
          </a:prstGeom>
          <a:solidFill>
            <a:srgbClr val="111A33"/>
          </a:solidFill>
          <a:ln w="12700">
            <a:solidFill>
              <a:srgbClr val="25304F">
                <a:alpha val="55000"/>
              </a:srgbClr>
            </a:solidFill>
            <a:prstDash val="solid"/>
          </a:ln>
          <a:effectLst>
            <a:outerShdw blurRad="25400" dist="1016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HU"/>
          </a:p>
        </p:txBody>
      </p:sp>
      <p:sp>
        <p:nvSpPr>
          <p:cNvPr id="18" name="Shape 16"/>
          <p:cNvSpPr/>
          <p:nvPr/>
        </p:nvSpPr>
        <p:spPr>
          <a:xfrm>
            <a:off x="502920" y="3127248"/>
            <a:ext cx="109728" cy="694944"/>
          </a:xfrm>
          <a:prstGeom prst="roundRect">
            <a:avLst/>
          </a:prstGeom>
          <a:solidFill>
            <a:srgbClr val="A3FF12"/>
          </a:solidFill>
          <a:ln w="12700">
            <a:solidFill>
              <a:srgbClr val="A3FF1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HU"/>
          </a:p>
        </p:txBody>
      </p:sp>
      <p:sp>
        <p:nvSpPr>
          <p:cNvPr id="19" name="Text 17"/>
          <p:cNvSpPr/>
          <p:nvPr/>
        </p:nvSpPr>
        <p:spPr>
          <a:xfrm>
            <a:off x="704088" y="3236976"/>
            <a:ext cx="5394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3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data_processing.py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04088" y="3511296"/>
            <a:ext cx="5394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data + fix known anomalies (DAYS_EMPLOYED placeholder)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02920" y="3913632"/>
            <a:ext cx="5669280" cy="694944"/>
          </a:xfrm>
          <a:prstGeom prst="roundRect">
            <a:avLst/>
          </a:prstGeom>
          <a:solidFill>
            <a:srgbClr val="111A33"/>
          </a:solidFill>
          <a:ln w="12700">
            <a:solidFill>
              <a:srgbClr val="25304F">
                <a:alpha val="55000"/>
              </a:srgbClr>
            </a:solidFill>
            <a:prstDash val="solid"/>
          </a:ln>
          <a:effectLst>
            <a:outerShdw blurRad="25400" dist="1016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HU"/>
          </a:p>
        </p:txBody>
      </p:sp>
      <p:sp>
        <p:nvSpPr>
          <p:cNvPr id="22" name="Shape 20"/>
          <p:cNvSpPr/>
          <p:nvPr/>
        </p:nvSpPr>
        <p:spPr>
          <a:xfrm>
            <a:off x="502920" y="3913632"/>
            <a:ext cx="109728" cy="694944"/>
          </a:xfrm>
          <a:prstGeom prst="roundRect">
            <a:avLst/>
          </a:prstGeom>
          <a:solidFill>
            <a:srgbClr val="FF2D95"/>
          </a:solidFill>
          <a:ln w="12700">
            <a:solidFill>
              <a:srgbClr val="FF2D9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HU"/>
          </a:p>
        </p:txBody>
      </p:sp>
      <p:sp>
        <p:nvSpPr>
          <p:cNvPr id="23" name="Text 21"/>
          <p:cNvSpPr/>
          <p:nvPr/>
        </p:nvSpPr>
        <p:spPr>
          <a:xfrm>
            <a:off x="704088" y="4023360"/>
            <a:ext cx="5394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3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modeling.py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04088" y="4297680"/>
            <a:ext cx="5394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 pipeline + cross-validated training (LR / LightGBM)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02920" y="4700016"/>
            <a:ext cx="5669280" cy="694944"/>
          </a:xfrm>
          <a:prstGeom prst="roundRect">
            <a:avLst/>
          </a:prstGeom>
          <a:solidFill>
            <a:srgbClr val="111A33"/>
          </a:solidFill>
          <a:ln w="12700">
            <a:solidFill>
              <a:srgbClr val="25304F">
                <a:alpha val="55000"/>
              </a:srgbClr>
            </a:solidFill>
            <a:prstDash val="solid"/>
          </a:ln>
          <a:effectLst>
            <a:outerShdw blurRad="25400" dist="1016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HU"/>
          </a:p>
        </p:txBody>
      </p:sp>
      <p:sp>
        <p:nvSpPr>
          <p:cNvPr id="26" name="Shape 24"/>
          <p:cNvSpPr/>
          <p:nvPr/>
        </p:nvSpPr>
        <p:spPr>
          <a:xfrm>
            <a:off x="502920" y="4700016"/>
            <a:ext cx="109728" cy="694944"/>
          </a:xfrm>
          <a:prstGeom prst="roundRect">
            <a:avLst/>
          </a:prstGeom>
          <a:solidFill>
            <a:srgbClr val="FFB000"/>
          </a:solidFill>
          <a:ln w="12700">
            <a:solidFill>
              <a:srgbClr val="FFB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HU"/>
          </a:p>
        </p:txBody>
      </p:sp>
      <p:sp>
        <p:nvSpPr>
          <p:cNvPr id="27" name="Text 25"/>
          <p:cNvSpPr/>
          <p:nvPr/>
        </p:nvSpPr>
        <p:spPr>
          <a:xfrm>
            <a:off x="704088" y="4809744"/>
            <a:ext cx="5394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3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visualization.py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704088" y="5084064"/>
            <a:ext cx="5394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 curve, feature importance, distribution diagnostics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629400" y="105156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3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Codebase footprint (non-empty LOC)</a:t>
            </a:r>
            <a:endParaRPr lang="en-US" sz="1800" dirty="0"/>
          </a:p>
        </p:txBody>
      </p:sp>
      <p:graphicFrame>
        <p:nvGraphicFramePr>
          <p:cNvPr id="30" name="Chart 0"/>
          <p:cNvGraphicFramePr/>
          <p:nvPr/>
        </p:nvGraphicFramePr>
        <p:xfrm>
          <a:off x="6492240" y="1417320"/>
          <a:ext cx="5532120" cy="2926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1" name="Shape 28"/>
          <p:cNvSpPr/>
          <p:nvPr/>
        </p:nvSpPr>
        <p:spPr>
          <a:xfrm>
            <a:off x="6492240" y="4526280"/>
            <a:ext cx="5532120" cy="1554480"/>
          </a:xfrm>
          <a:prstGeom prst="roundRect">
            <a:avLst/>
          </a:prstGeom>
          <a:solidFill>
            <a:srgbClr val="111A33"/>
          </a:solidFill>
          <a:ln w="12700">
            <a:solidFill>
              <a:srgbClr val="25304F">
                <a:alpha val="60000"/>
              </a:srgbClr>
            </a:solidFill>
            <a:prstDash val="solid"/>
          </a:ln>
          <a:effectLst>
            <a:outerShdw blurRad="38100" dist="1524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HU"/>
          </a:p>
        </p:txBody>
      </p:sp>
      <p:sp>
        <p:nvSpPr>
          <p:cNvPr id="32" name="Shape 29"/>
          <p:cNvSpPr/>
          <p:nvPr/>
        </p:nvSpPr>
        <p:spPr>
          <a:xfrm>
            <a:off x="6492240" y="4526280"/>
            <a:ext cx="91440" cy="1554480"/>
          </a:xfrm>
          <a:prstGeom prst="roundRect">
            <a:avLst/>
          </a:prstGeom>
          <a:solidFill>
            <a:srgbClr val="00E5FF"/>
          </a:solidFill>
          <a:ln w="12700">
            <a:solidFill>
              <a:srgbClr val="00E5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HU"/>
          </a:p>
        </p:txBody>
      </p:sp>
      <p:sp>
        <p:nvSpPr>
          <p:cNvPr id="33" name="Text 30"/>
          <p:cNvSpPr/>
          <p:nvPr/>
        </p:nvSpPr>
        <p:spPr>
          <a:xfrm>
            <a:off x="6693408" y="469087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3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6693408" y="5093208"/>
            <a:ext cx="5221224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pipeline is intentionally split into single-purpose modules so you can: 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unit test transformations 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swap models without refactoring 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generate consistent artifacts across runs</a:t>
            </a:r>
            <a:endParaRPr lang="en-US" sz="1200" dirty="0"/>
          </a:p>
        </p:txBody>
      </p:sp>
      <p:sp>
        <p:nvSpPr>
          <p:cNvPr id="35" name="Shape 3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1020">
              <a:alpha val="90000"/>
            </a:srgbClr>
          </a:solidFill>
          <a:ln w="12700">
            <a:solidFill>
              <a:srgbClr val="0B102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HU"/>
          </a:p>
        </p:txBody>
      </p:sp>
      <p:sp>
        <p:nvSpPr>
          <p:cNvPr id="36" name="Text 33"/>
          <p:cNvSpPr/>
          <p:nvPr/>
        </p:nvSpPr>
        <p:spPr>
          <a:xfrm>
            <a:off x="502920" y="6620256"/>
            <a:ext cx="816833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Credit Default Risk • ML Pipeline (Python)</a:t>
            </a:r>
            <a:endParaRPr lang="en-US" sz="1000" dirty="0"/>
          </a:p>
        </p:txBody>
      </p:sp>
      <p:sp>
        <p:nvSpPr>
          <p:cNvPr id="37" name="Shape 34"/>
          <p:cNvSpPr/>
          <p:nvPr/>
        </p:nvSpPr>
        <p:spPr>
          <a:xfrm>
            <a:off x="9677095" y="6629400"/>
            <a:ext cx="2011680" cy="128016"/>
          </a:xfrm>
          <a:prstGeom prst="roundRect">
            <a:avLst/>
          </a:prstGeom>
          <a:solidFill>
            <a:srgbClr val="0F1730"/>
          </a:solidFill>
          <a:ln w="12700">
            <a:solidFill>
              <a:srgbClr val="25304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HU"/>
          </a:p>
        </p:txBody>
      </p:sp>
      <p:sp>
        <p:nvSpPr>
          <p:cNvPr id="38" name="Shape 35"/>
          <p:cNvSpPr/>
          <p:nvPr/>
        </p:nvSpPr>
        <p:spPr>
          <a:xfrm>
            <a:off x="9677095" y="6629400"/>
            <a:ext cx="603504" cy="128016"/>
          </a:xfrm>
          <a:prstGeom prst="roundRect">
            <a:avLst/>
          </a:prstGeom>
          <a:solidFill>
            <a:srgbClr val="00E5FF"/>
          </a:solidFill>
          <a:ln w="12700">
            <a:solidFill>
              <a:srgbClr val="00E5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HU"/>
          </a:p>
        </p:txBody>
      </p:sp>
      <p:sp>
        <p:nvSpPr>
          <p:cNvPr id="39" name="Text 36"/>
          <p:cNvSpPr/>
          <p:nvPr/>
        </p:nvSpPr>
        <p:spPr>
          <a:xfrm>
            <a:off x="8945575" y="6592824"/>
            <a:ext cx="685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3/10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  <p:txBody>
          <a:bodyPr/>
          <a:lstStyle/>
          <a:p>
            <a:endParaRPr lang="en-HU"/>
          </a:p>
        </p:txBody>
      </p:sp>
      <p:pic>
        <p:nvPicPr>
          <p:cNvPr id="3" name="Image 0" descr="/mnt/data/slide_assets/unsplash_trader_pointing_1800.png"/>
          <p:cNvPicPr>
            <a:picLocks noChangeAspect="1"/>
          </p:cNvPicPr>
          <p:nvPr/>
        </p:nvPicPr>
        <p:blipFill>
          <a:blip r:embed="rId3"/>
          <a:srcRect t="33079" b="33079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>
              <a:alpha val="62000"/>
            </a:srgbClr>
          </a:solidFill>
          <a:ln w="12700">
            <a:solidFill>
              <a:srgbClr val="0B102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HU"/>
          </a:p>
        </p:txBody>
      </p:sp>
      <p:sp>
        <p:nvSpPr>
          <p:cNvPr id="5" name="Shap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A3FF12">
              <a:alpha val="86000"/>
            </a:srgbClr>
          </a:solidFill>
          <a:ln w="12700">
            <a:solidFill>
              <a:srgbClr val="A3FF1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HU"/>
          </a:p>
        </p:txBody>
      </p:sp>
      <p:sp>
        <p:nvSpPr>
          <p:cNvPr id="6" name="Shape 3"/>
          <p:cNvSpPr/>
          <p:nvPr/>
        </p:nvSpPr>
        <p:spPr>
          <a:xfrm>
            <a:off x="0" y="749808"/>
            <a:ext cx="12191695" cy="54864"/>
          </a:xfrm>
          <a:prstGeom prst="rect">
            <a:avLst/>
          </a:prstGeom>
          <a:solidFill>
            <a:srgbClr val="FF2D95"/>
          </a:solidFill>
          <a:ln w="12700">
            <a:solidFill>
              <a:srgbClr val="FF2D9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HU"/>
          </a:p>
        </p:txBody>
      </p:sp>
      <p:sp>
        <p:nvSpPr>
          <p:cNvPr id="7" name="Shape 4"/>
          <p:cNvSpPr/>
          <p:nvPr/>
        </p:nvSpPr>
        <p:spPr>
          <a:xfrm>
            <a:off x="0" y="804672"/>
            <a:ext cx="12191695" cy="36576"/>
          </a:xfrm>
          <a:prstGeom prst="rect">
            <a:avLst/>
          </a:prstGeom>
          <a:solidFill>
            <a:srgbClr val="A3FF12"/>
          </a:solidFill>
          <a:ln w="12700">
            <a:solidFill>
              <a:srgbClr val="A3FF1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HU"/>
          </a:p>
        </p:txBody>
      </p:sp>
      <p:sp>
        <p:nvSpPr>
          <p:cNvPr id="8" name="Shape 5"/>
          <p:cNvSpPr/>
          <p:nvPr/>
        </p:nvSpPr>
        <p:spPr>
          <a:xfrm>
            <a:off x="502920" y="320040"/>
            <a:ext cx="3675888" cy="384048"/>
          </a:xfrm>
          <a:prstGeom prst="roundRect">
            <a:avLst/>
          </a:prstGeom>
          <a:solidFill>
            <a:srgbClr val="111A33"/>
          </a:solidFill>
          <a:ln w="12700">
            <a:solidFill>
              <a:srgbClr val="25304F">
                <a:alpha val="70000"/>
              </a:srgbClr>
            </a:solidFill>
            <a:prstDash val="solid"/>
          </a:ln>
          <a:effectLst>
            <a:outerShdw blurRad="38100" dist="1524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HU"/>
          </a:p>
        </p:txBody>
      </p:sp>
      <p:sp>
        <p:nvSpPr>
          <p:cNvPr id="9" name="Text 6"/>
          <p:cNvSpPr/>
          <p:nvPr/>
        </p:nvSpPr>
        <p:spPr>
          <a:xfrm>
            <a:off x="667512" y="374904"/>
            <a:ext cx="334670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3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502920" y="1051560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3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workflow</a:t>
            </a:r>
            <a:endParaRPr lang="en-US" sz="2800" dirty="0"/>
          </a:p>
        </p:txBody>
      </p:sp>
      <p:sp>
        <p:nvSpPr>
          <p:cNvPr id="11" name="Shape 8"/>
          <p:cNvSpPr/>
          <p:nvPr/>
        </p:nvSpPr>
        <p:spPr>
          <a:xfrm>
            <a:off x="502920" y="1874520"/>
            <a:ext cx="1664208" cy="841248"/>
          </a:xfrm>
          <a:prstGeom prst="roundRect">
            <a:avLst/>
          </a:prstGeom>
          <a:solidFill>
            <a:srgbClr val="111A33">
              <a:alpha val="90000"/>
            </a:srgbClr>
          </a:solidFill>
          <a:ln w="12700">
            <a:solidFill>
              <a:srgbClr val="00E5FF">
                <a:alpha val="70000"/>
              </a:srgbClr>
            </a:solidFill>
            <a:prstDash val="solid"/>
          </a:ln>
          <a:effectLst>
            <a:outerShdw blurRad="38100" dist="127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HU"/>
          </a:p>
        </p:txBody>
      </p:sp>
      <p:sp>
        <p:nvSpPr>
          <p:cNvPr id="12" name="Shape 9"/>
          <p:cNvSpPr/>
          <p:nvPr/>
        </p:nvSpPr>
        <p:spPr>
          <a:xfrm>
            <a:off x="502920" y="1874520"/>
            <a:ext cx="1664208" cy="91440"/>
          </a:xfrm>
          <a:prstGeom prst="roundRect">
            <a:avLst/>
          </a:prstGeom>
          <a:solidFill>
            <a:srgbClr val="00E5FF"/>
          </a:solidFill>
          <a:ln w="12700">
            <a:solidFill>
              <a:srgbClr val="00E5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HU"/>
          </a:p>
        </p:txBody>
      </p:sp>
      <p:sp>
        <p:nvSpPr>
          <p:cNvPr id="13" name="Text 10"/>
          <p:cNvSpPr/>
          <p:nvPr/>
        </p:nvSpPr>
        <p:spPr>
          <a:xfrm>
            <a:off x="612648" y="2075688"/>
            <a:ext cx="1444752" cy="612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3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CSV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2148840" y="2194560"/>
            <a:ext cx="292608" cy="201168"/>
          </a:xfrm>
          <a:prstGeom prst="rightArrow">
            <a:avLst/>
          </a:prstGeom>
          <a:solidFill>
            <a:srgbClr val="FFFFFF">
              <a:alpha val="2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HU"/>
          </a:p>
        </p:txBody>
      </p:sp>
      <p:sp>
        <p:nvSpPr>
          <p:cNvPr id="15" name="Shape 12"/>
          <p:cNvSpPr/>
          <p:nvPr/>
        </p:nvSpPr>
        <p:spPr>
          <a:xfrm>
            <a:off x="2404872" y="1874520"/>
            <a:ext cx="1664208" cy="841248"/>
          </a:xfrm>
          <a:prstGeom prst="roundRect">
            <a:avLst/>
          </a:prstGeom>
          <a:solidFill>
            <a:srgbClr val="111A33">
              <a:alpha val="90000"/>
            </a:srgbClr>
          </a:solidFill>
          <a:ln w="12700">
            <a:solidFill>
              <a:srgbClr val="A3FF12">
                <a:alpha val="70000"/>
              </a:srgbClr>
            </a:solidFill>
            <a:prstDash val="solid"/>
          </a:ln>
          <a:effectLst>
            <a:outerShdw blurRad="38100" dist="127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HU"/>
          </a:p>
        </p:txBody>
      </p:sp>
      <p:sp>
        <p:nvSpPr>
          <p:cNvPr id="16" name="Shape 13"/>
          <p:cNvSpPr/>
          <p:nvPr/>
        </p:nvSpPr>
        <p:spPr>
          <a:xfrm>
            <a:off x="2404872" y="1874520"/>
            <a:ext cx="1664208" cy="91440"/>
          </a:xfrm>
          <a:prstGeom prst="roundRect">
            <a:avLst/>
          </a:prstGeom>
          <a:solidFill>
            <a:srgbClr val="A3FF12"/>
          </a:solidFill>
          <a:ln w="12700">
            <a:solidFill>
              <a:srgbClr val="A3FF1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HU"/>
          </a:p>
        </p:txBody>
      </p:sp>
      <p:sp>
        <p:nvSpPr>
          <p:cNvPr id="17" name="Text 14"/>
          <p:cNvSpPr/>
          <p:nvPr/>
        </p:nvSpPr>
        <p:spPr>
          <a:xfrm>
            <a:off x="2514600" y="2075688"/>
            <a:ext cx="1444752" cy="612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3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anomalies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4050792" y="2194560"/>
            <a:ext cx="292608" cy="201168"/>
          </a:xfrm>
          <a:prstGeom prst="rightArrow">
            <a:avLst/>
          </a:prstGeom>
          <a:solidFill>
            <a:srgbClr val="FFFFFF">
              <a:alpha val="2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HU"/>
          </a:p>
        </p:txBody>
      </p:sp>
      <p:sp>
        <p:nvSpPr>
          <p:cNvPr id="19" name="Shape 16"/>
          <p:cNvSpPr/>
          <p:nvPr/>
        </p:nvSpPr>
        <p:spPr>
          <a:xfrm>
            <a:off x="4306824" y="1874520"/>
            <a:ext cx="1664208" cy="841248"/>
          </a:xfrm>
          <a:prstGeom prst="roundRect">
            <a:avLst/>
          </a:prstGeom>
          <a:solidFill>
            <a:srgbClr val="111A33">
              <a:alpha val="90000"/>
            </a:srgbClr>
          </a:solidFill>
          <a:ln w="12700">
            <a:solidFill>
              <a:srgbClr val="6C5CE7">
                <a:alpha val="70000"/>
              </a:srgbClr>
            </a:solidFill>
            <a:prstDash val="solid"/>
          </a:ln>
          <a:effectLst>
            <a:outerShdw blurRad="38100" dist="127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HU"/>
          </a:p>
        </p:txBody>
      </p:sp>
      <p:sp>
        <p:nvSpPr>
          <p:cNvPr id="20" name="Shape 17"/>
          <p:cNvSpPr/>
          <p:nvPr/>
        </p:nvSpPr>
        <p:spPr>
          <a:xfrm>
            <a:off x="4306824" y="1874520"/>
            <a:ext cx="1664208" cy="91440"/>
          </a:xfrm>
          <a:prstGeom prst="roundRect">
            <a:avLst/>
          </a:prstGeom>
          <a:solidFill>
            <a:srgbClr val="6C5CE7"/>
          </a:solidFill>
          <a:ln w="12700">
            <a:solidFill>
              <a:srgbClr val="6C5CE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HU"/>
          </a:p>
        </p:txBody>
      </p:sp>
      <p:sp>
        <p:nvSpPr>
          <p:cNvPr id="21" name="Text 18"/>
          <p:cNvSpPr/>
          <p:nvPr/>
        </p:nvSpPr>
        <p:spPr>
          <a:xfrm>
            <a:off x="4416552" y="2075688"/>
            <a:ext cx="1444752" cy="612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3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5952744" y="2194560"/>
            <a:ext cx="292608" cy="201168"/>
          </a:xfrm>
          <a:prstGeom prst="rightArrow">
            <a:avLst/>
          </a:prstGeom>
          <a:solidFill>
            <a:srgbClr val="FFFFFF">
              <a:alpha val="2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HU"/>
          </a:p>
        </p:txBody>
      </p:sp>
      <p:sp>
        <p:nvSpPr>
          <p:cNvPr id="23" name="Shape 20"/>
          <p:cNvSpPr/>
          <p:nvPr/>
        </p:nvSpPr>
        <p:spPr>
          <a:xfrm>
            <a:off x="6208776" y="1874520"/>
            <a:ext cx="1664208" cy="841248"/>
          </a:xfrm>
          <a:prstGeom prst="roundRect">
            <a:avLst/>
          </a:prstGeom>
          <a:solidFill>
            <a:srgbClr val="111A33">
              <a:alpha val="90000"/>
            </a:srgbClr>
          </a:solidFill>
          <a:ln w="12700">
            <a:solidFill>
              <a:srgbClr val="FFB000">
                <a:alpha val="70000"/>
              </a:srgbClr>
            </a:solidFill>
            <a:prstDash val="solid"/>
          </a:ln>
          <a:effectLst>
            <a:outerShdw blurRad="38100" dist="127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HU"/>
          </a:p>
        </p:txBody>
      </p:sp>
      <p:sp>
        <p:nvSpPr>
          <p:cNvPr id="24" name="Shape 21"/>
          <p:cNvSpPr/>
          <p:nvPr/>
        </p:nvSpPr>
        <p:spPr>
          <a:xfrm>
            <a:off x="6208776" y="1874520"/>
            <a:ext cx="1664208" cy="91440"/>
          </a:xfrm>
          <a:prstGeom prst="roundRect">
            <a:avLst/>
          </a:prstGeom>
          <a:solidFill>
            <a:srgbClr val="FFB000"/>
          </a:solidFill>
          <a:ln w="12700">
            <a:solidFill>
              <a:srgbClr val="FFB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HU"/>
          </a:p>
        </p:txBody>
      </p:sp>
      <p:sp>
        <p:nvSpPr>
          <p:cNvPr id="25" name="Text 22"/>
          <p:cNvSpPr/>
          <p:nvPr/>
        </p:nvSpPr>
        <p:spPr>
          <a:xfrm>
            <a:off x="6318504" y="2075688"/>
            <a:ext cx="1444752" cy="612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3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Cross-validate</a:t>
            </a:r>
            <a:endParaRPr lang="en-US" sz="1400" dirty="0"/>
          </a:p>
        </p:txBody>
      </p:sp>
      <p:sp>
        <p:nvSpPr>
          <p:cNvPr id="26" name="Shape 23"/>
          <p:cNvSpPr/>
          <p:nvPr/>
        </p:nvSpPr>
        <p:spPr>
          <a:xfrm>
            <a:off x="7854696" y="2194560"/>
            <a:ext cx="292608" cy="201168"/>
          </a:xfrm>
          <a:prstGeom prst="rightArrow">
            <a:avLst/>
          </a:prstGeom>
          <a:solidFill>
            <a:srgbClr val="FFFFFF">
              <a:alpha val="2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HU"/>
          </a:p>
        </p:txBody>
      </p:sp>
      <p:sp>
        <p:nvSpPr>
          <p:cNvPr id="27" name="Shape 24"/>
          <p:cNvSpPr/>
          <p:nvPr/>
        </p:nvSpPr>
        <p:spPr>
          <a:xfrm>
            <a:off x="8110728" y="1874520"/>
            <a:ext cx="1664208" cy="841248"/>
          </a:xfrm>
          <a:prstGeom prst="roundRect">
            <a:avLst/>
          </a:prstGeom>
          <a:solidFill>
            <a:srgbClr val="111A33">
              <a:alpha val="90000"/>
            </a:srgbClr>
          </a:solidFill>
          <a:ln w="12700">
            <a:solidFill>
              <a:srgbClr val="FF2D95">
                <a:alpha val="70000"/>
              </a:srgbClr>
            </a:solidFill>
            <a:prstDash val="solid"/>
          </a:ln>
          <a:effectLst>
            <a:outerShdw blurRad="38100" dist="127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HU"/>
          </a:p>
        </p:txBody>
      </p:sp>
      <p:sp>
        <p:nvSpPr>
          <p:cNvPr id="28" name="Shape 25"/>
          <p:cNvSpPr/>
          <p:nvPr/>
        </p:nvSpPr>
        <p:spPr>
          <a:xfrm>
            <a:off x="8110728" y="1874520"/>
            <a:ext cx="1664208" cy="91440"/>
          </a:xfrm>
          <a:prstGeom prst="roundRect">
            <a:avLst/>
          </a:prstGeom>
          <a:solidFill>
            <a:srgbClr val="FF2D95"/>
          </a:solidFill>
          <a:ln w="12700">
            <a:solidFill>
              <a:srgbClr val="FF2D9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HU"/>
          </a:p>
        </p:txBody>
      </p:sp>
      <p:sp>
        <p:nvSpPr>
          <p:cNvPr id="29" name="Text 26"/>
          <p:cNvSpPr/>
          <p:nvPr/>
        </p:nvSpPr>
        <p:spPr>
          <a:xfrm>
            <a:off x="8220456" y="2075688"/>
            <a:ext cx="1444752" cy="612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3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final</a:t>
            </a:r>
            <a:endParaRPr lang="en-US" sz="1400" dirty="0"/>
          </a:p>
        </p:txBody>
      </p:sp>
      <p:sp>
        <p:nvSpPr>
          <p:cNvPr id="30" name="Shape 27"/>
          <p:cNvSpPr/>
          <p:nvPr/>
        </p:nvSpPr>
        <p:spPr>
          <a:xfrm>
            <a:off x="9756648" y="2194560"/>
            <a:ext cx="292608" cy="201168"/>
          </a:xfrm>
          <a:prstGeom prst="rightArrow">
            <a:avLst/>
          </a:prstGeom>
          <a:solidFill>
            <a:srgbClr val="FFFFFF">
              <a:alpha val="2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HU"/>
          </a:p>
        </p:txBody>
      </p:sp>
      <p:sp>
        <p:nvSpPr>
          <p:cNvPr id="31" name="Shape 28"/>
          <p:cNvSpPr/>
          <p:nvPr/>
        </p:nvSpPr>
        <p:spPr>
          <a:xfrm>
            <a:off x="10012680" y="1874520"/>
            <a:ext cx="1664208" cy="841248"/>
          </a:xfrm>
          <a:prstGeom prst="roundRect">
            <a:avLst/>
          </a:prstGeom>
          <a:solidFill>
            <a:srgbClr val="111A33">
              <a:alpha val="90000"/>
            </a:srgbClr>
          </a:solidFill>
          <a:ln w="12700">
            <a:solidFill>
              <a:srgbClr val="00E5FF">
                <a:alpha val="70000"/>
              </a:srgbClr>
            </a:solidFill>
            <a:prstDash val="solid"/>
          </a:ln>
          <a:effectLst>
            <a:outerShdw blurRad="38100" dist="127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HU"/>
          </a:p>
        </p:txBody>
      </p:sp>
      <p:sp>
        <p:nvSpPr>
          <p:cNvPr id="32" name="Shape 29"/>
          <p:cNvSpPr/>
          <p:nvPr/>
        </p:nvSpPr>
        <p:spPr>
          <a:xfrm>
            <a:off x="10012680" y="1874520"/>
            <a:ext cx="1664208" cy="91440"/>
          </a:xfrm>
          <a:prstGeom prst="roundRect">
            <a:avLst/>
          </a:prstGeom>
          <a:solidFill>
            <a:srgbClr val="00E5FF"/>
          </a:solidFill>
          <a:ln w="12700">
            <a:solidFill>
              <a:srgbClr val="00E5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HU"/>
          </a:p>
        </p:txBody>
      </p:sp>
      <p:sp>
        <p:nvSpPr>
          <p:cNvPr id="33" name="Text 30"/>
          <p:cNvSpPr/>
          <p:nvPr/>
        </p:nvSpPr>
        <p:spPr>
          <a:xfrm>
            <a:off x="10122408" y="2075688"/>
            <a:ext cx="1444752" cy="612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3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&amp;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3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</a:t>
            </a:r>
            <a:endParaRPr lang="en-US" sz="1400" dirty="0"/>
          </a:p>
        </p:txBody>
      </p:sp>
      <p:sp>
        <p:nvSpPr>
          <p:cNvPr id="34" name="Shape 31"/>
          <p:cNvSpPr/>
          <p:nvPr/>
        </p:nvSpPr>
        <p:spPr>
          <a:xfrm>
            <a:off x="502920" y="3108960"/>
            <a:ext cx="11686032" cy="3474720"/>
          </a:xfrm>
          <a:prstGeom prst="roundRect">
            <a:avLst/>
          </a:prstGeom>
          <a:solidFill>
            <a:srgbClr val="111A33"/>
          </a:solidFill>
          <a:ln w="12700">
            <a:solidFill>
              <a:srgbClr val="25304F">
                <a:alpha val="60000"/>
              </a:srgbClr>
            </a:solidFill>
            <a:prstDash val="solid"/>
          </a:ln>
          <a:effectLst>
            <a:outerShdw blurRad="38100" dist="1524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HU"/>
          </a:p>
        </p:txBody>
      </p:sp>
      <p:sp>
        <p:nvSpPr>
          <p:cNvPr id="35" name="Shape 32"/>
          <p:cNvSpPr/>
          <p:nvPr/>
        </p:nvSpPr>
        <p:spPr>
          <a:xfrm>
            <a:off x="502920" y="3108960"/>
            <a:ext cx="91440" cy="3474720"/>
          </a:xfrm>
          <a:prstGeom prst="roundRect">
            <a:avLst/>
          </a:prstGeom>
          <a:solidFill>
            <a:srgbClr val="A3FF12"/>
          </a:solidFill>
          <a:ln w="12700">
            <a:solidFill>
              <a:srgbClr val="A3FF1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HU"/>
          </a:p>
        </p:txBody>
      </p:sp>
      <p:sp>
        <p:nvSpPr>
          <p:cNvPr id="36" name="Text 33"/>
          <p:cNvSpPr/>
          <p:nvPr/>
        </p:nvSpPr>
        <p:spPr>
          <a:xfrm>
            <a:off x="704088" y="3273552"/>
            <a:ext cx="113751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3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techniques</a:t>
            </a:r>
            <a:endParaRPr lang="en-US" sz="1600" dirty="0"/>
          </a:p>
        </p:txBody>
      </p:sp>
      <p:sp>
        <p:nvSpPr>
          <p:cNvPr id="37" name="Text 34"/>
          <p:cNvSpPr/>
          <p:nvPr/>
        </p:nvSpPr>
        <p:spPr>
          <a:xfrm>
            <a:off x="704088" y="3675888"/>
            <a:ext cx="11375136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Categorical: most-frequent imputation + one-hot encoding (handle_unknown=ignore)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Numerical: median imputation + standard scaling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Validation: Stratified K-Fold cross-validation with ROC-AUC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Artifacts: ROC curve, feature importance, score distribution checks, submission CSV</a:t>
            </a:r>
            <a:endParaRPr lang="en-US" sz="1200" dirty="0"/>
          </a:p>
        </p:txBody>
      </p:sp>
      <p:sp>
        <p:nvSpPr>
          <p:cNvPr id="39" name="Shape 3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1020">
              <a:alpha val="90000"/>
            </a:srgbClr>
          </a:solidFill>
          <a:ln w="12700">
            <a:solidFill>
              <a:srgbClr val="0B102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HU"/>
          </a:p>
        </p:txBody>
      </p:sp>
      <p:sp>
        <p:nvSpPr>
          <p:cNvPr id="40" name="Text 36"/>
          <p:cNvSpPr/>
          <p:nvPr/>
        </p:nvSpPr>
        <p:spPr>
          <a:xfrm>
            <a:off x="502920" y="6620256"/>
            <a:ext cx="816833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Credit Default Risk • ML Pipeline (Python)</a:t>
            </a:r>
            <a:endParaRPr lang="en-US" sz="1000" dirty="0"/>
          </a:p>
        </p:txBody>
      </p:sp>
      <p:sp>
        <p:nvSpPr>
          <p:cNvPr id="41" name="Shape 37"/>
          <p:cNvSpPr/>
          <p:nvPr/>
        </p:nvSpPr>
        <p:spPr>
          <a:xfrm>
            <a:off x="9677095" y="6629400"/>
            <a:ext cx="2011680" cy="128016"/>
          </a:xfrm>
          <a:prstGeom prst="roundRect">
            <a:avLst/>
          </a:prstGeom>
          <a:solidFill>
            <a:srgbClr val="0F1730"/>
          </a:solidFill>
          <a:ln w="12700">
            <a:solidFill>
              <a:srgbClr val="25304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HU"/>
          </a:p>
        </p:txBody>
      </p:sp>
      <p:sp>
        <p:nvSpPr>
          <p:cNvPr id="42" name="Shape 38"/>
          <p:cNvSpPr/>
          <p:nvPr/>
        </p:nvSpPr>
        <p:spPr>
          <a:xfrm>
            <a:off x="9677095" y="6629400"/>
            <a:ext cx="804672" cy="128016"/>
          </a:xfrm>
          <a:prstGeom prst="roundRect">
            <a:avLst/>
          </a:prstGeom>
          <a:solidFill>
            <a:srgbClr val="00E5FF"/>
          </a:solidFill>
          <a:ln w="12700">
            <a:solidFill>
              <a:srgbClr val="00E5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HU"/>
          </a:p>
        </p:txBody>
      </p:sp>
      <p:sp>
        <p:nvSpPr>
          <p:cNvPr id="43" name="Text 39"/>
          <p:cNvSpPr/>
          <p:nvPr/>
        </p:nvSpPr>
        <p:spPr>
          <a:xfrm>
            <a:off x="8945575" y="6592824"/>
            <a:ext cx="685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4/10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  <p:txBody>
          <a:bodyPr/>
          <a:lstStyle/>
          <a:p>
            <a:endParaRPr lang="en-HU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FFB000">
              <a:alpha val="86000"/>
            </a:srgbClr>
          </a:solidFill>
          <a:ln w="12700">
            <a:solidFill>
              <a:srgbClr val="FFB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HU"/>
          </a:p>
        </p:txBody>
      </p:sp>
      <p:sp>
        <p:nvSpPr>
          <p:cNvPr id="4" name="Shape 2"/>
          <p:cNvSpPr/>
          <p:nvPr/>
        </p:nvSpPr>
        <p:spPr>
          <a:xfrm>
            <a:off x="0" y="749808"/>
            <a:ext cx="12191695" cy="54864"/>
          </a:xfrm>
          <a:prstGeom prst="rect">
            <a:avLst/>
          </a:prstGeom>
          <a:solidFill>
            <a:srgbClr val="FF2D95"/>
          </a:solidFill>
          <a:ln w="12700">
            <a:solidFill>
              <a:srgbClr val="FF2D9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HU"/>
          </a:p>
        </p:txBody>
      </p:sp>
      <p:sp>
        <p:nvSpPr>
          <p:cNvPr id="5" name="Shape 3"/>
          <p:cNvSpPr/>
          <p:nvPr/>
        </p:nvSpPr>
        <p:spPr>
          <a:xfrm>
            <a:off x="0" y="804672"/>
            <a:ext cx="12191695" cy="36576"/>
          </a:xfrm>
          <a:prstGeom prst="rect">
            <a:avLst/>
          </a:prstGeom>
          <a:solidFill>
            <a:srgbClr val="A3FF12"/>
          </a:solidFill>
          <a:ln w="12700">
            <a:solidFill>
              <a:srgbClr val="A3FF1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HU"/>
          </a:p>
        </p:txBody>
      </p:sp>
      <p:sp>
        <p:nvSpPr>
          <p:cNvPr id="6" name="Shape 4"/>
          <p:cNvSpPr/>
          <p:nvPr/>
        </p:nvSpPr>
        <p:spPr>
          <a:xfrm>
            <a:off x="502920" y="320040"/>
            <a:ext cx="4480560" cy="384048"/>
          </a:xfrm>
          <a:prstGeom prst="roundRect">
            <a:avLst/>
          </a:prstGeom>
          <a:solidFill>
            <a:srgbClr val="111A33"/>
          </a:solidFill>
          <a:ln w="12700">
            <a:solidFill>
              <a:srgbClr val="25304F">
                <a:alpha val="70000"/>
              </a:srgbClr>
            </a:solidFill>
            <a:prstDash val="solid"/>
          </a:ln>
          <a:effectLst>
            <a:outerShdw blurRad="38100" dist="1524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HU"/>
          </a:p>
        </p:txBody>
      </p:sp>
      <p:sp>
        <p:nvSpPr>
          <p:cNvPr id="7" name="Text 5"/>
          <p:cNvSpPr/>
          <p:nvPr/>
        </p:nvSpPr>
        <p:spPr>
          <a:xfrm>
            <a:off x="667512" y="374904"/>
            <a:ext cx="41513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3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Processing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10515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3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 &amp; anomaly handling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502920" y="1600200"/>
            <a:ext cx="5806440" cy="1783080"/>
          </a:xfrm>
          <a:prstGeom prst="roundRect">
            <a:avLst/>
          </a:prstGeom>
          <a:solidFill>
            <a:srgbClr val="111A33"/>
          </a:solidFill>
          <a:ln w="12700">
            <a:solidFill>
              <a:srgbClr val="25304F">
                <a:alpha val="60000"/>
              </a:srgbClr>
            </a:solidFill>
            <a:prstDash val="solid"/>
          </a:ln>
          <a:effectLst>
            <a:outerShdw blurRad="38100" dist="1524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HU"/>
          </a:p>
        </p:txBody>
      </p:sp>
      <p:sp>
        <p:nvSpPr>
          <p:cNvPr id="10" name="Shape 8"/>
          <p:cNvSpPr/>
          <p:nvPr/>
        </p:nvSpPr>
        <p:spPr>
          <a:xfrm>
            <a:off x="502920" y="1600200"/>
            <a:ext cx="91440" cy="1783080"/>
          </a:xfrm>
          <a:prstGeom prst="roundRect">
            <a:avLst/>
          </a:prstGeom>
          <a:solidFill>
            <a:srgbClr val="FFB000"/>
          </a:solidFill>
          <a:ln w="12700">
            <a:solidFill>
              <a:srgbClr val="FFB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HU"/>
          </a:p>
        </p:txBody>
      </p:sp>
      <p:sp>
        <p:nvSpPr>
          <p:cNvPr id="11" name="Text 9"/>
          <p:cNvSpPr/>
          <p:nvPr/>
        </p:nvSpPr>
        <p:spPr>
          <a:xfrm>
            <a:off x="704088" y="1764792"/>
            <a:ext cx="54955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3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 preprocessing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04088" y="2167128"/>
            <a:ext cx="5495544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Automatic separation of categorical vs numerical features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Missing values handled via imputers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Scaling for numeric stability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Safe one-hot encoding for unseen categories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02920" y="3566160"/>
            <a:ext cx="5806440" cy="2560320"/>
          </a:xfrm>
          <a:prstGeom prst="roundRect">
            <a:avLst/>
          </a:prstGeom>
          <a:solidFill>
            <a:srgbClr val="111A33"/>
          </a:solidFill>
          <a:ln w="12700">
            <a:solidFill>
              <a:srgbClr val="25304F">
                <a:alpha val="60000"/>
              </a:srgbClr>
            </a:solidFill>
            <a:prstDash val="solid"/>
          </a:ln>
          <a:effectLst>
            <a:outerShdw blurRad="38100" dist="1524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HU"/>
          </a:p>
        </p:txBody>
      </p:sp>
      <p:sp>
        <p:nvSpPr>
          <p:cNvPr id="14" name="Shape 12"/>
          <p:cNvSpPr/>
          <p:nvPr/>
        </p:nvSpPr>
        <p:spPr>
          <a:xfrm>
            <a:off x="502920" y="3566160"/>
            <a:ext cx="91440" cy="2560320"/>
          </a:xfrm>
          <a:prstGeom prst="roundRect">
            <a:avLst/>
          </a:prstGeom>
          <a:solidFill>
            <a:srgbClr val="A3FF12"/>
          </a:solidFill>
          <a:ln w="12700">
            <a:solidFill>
              <a:srgbClr val="A3FF1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HU"/>
          </a:p>
        </p:txBody>
      </p:sp>
      <p:sp>
        <p:nvSpPr>
          <p:cNvPr id="15" name="Text 13"/>
          <p:cNvSpPr/>
          <p:nvPr/>
        </p:nvSpPr>
        <p:spPr>
          <a:xfrm>
            <a:off x="704088" y="3730752"/>
            <a:ext cx="54955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3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 anomaly fix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04088" y="4133088"/>
            <a:ext cx="5495544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Home Credit dataset contains a placeholder value in DAYS_EMPLOYED (365243).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pipeline converts it to NaN and adds an explicit flag feature to preserve information.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537960" y="1600200"/>
            <a:ext cx="5650992" cy="4526280"/>
          </a:xfrm>
          <a:prstGeom prst="roundRect">
            <a:avLst/>
          </a:prstGeom>
          <a:solidFill>
            <a:srgbClr val="0A0F1F"/>
          </a:solidFill>
          <a:ln w="12700">
            <a:solidFill>
              <a:srgbClr val="233055">
                <a:alpha val="70000"/>
              </a:srgbClr>
            </a:solidFill>
            <a:prstDash val="solid"/>
          </a:ln>
          <a:effectLst>
            <a:outerShdw blurRad="38100" dist="1524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HU"/>
          </a:p>
        </p:txBody>
      </p:sp>
      <p:sp>
        <p:nvSpPr>
          <p:cNvPr id="18" name="Text 16"/>
          <p:cNvSpPr/>
          <p:nvPr/>
        </p:nvSpPr>
        <p:spPr>
          <a:xfrm>
            <a:off x="6739128" y="1746504"/>
            <a:ext cx="5248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data_processing.py (excerpt)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739128" y="2057400"/>
            <a:ext cx="5248656" cy="3904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fix_known_anomalies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pd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DataFrame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-&gt;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pd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DataFrame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"""Convert DAYS_EMPLOYED placeholder to NaN + add flag."""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"DAYS_EMPLOYED"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df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columns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anom_val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365243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df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df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copy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df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"DAYS_EMPLOYED_ANOM"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"DAYS_EMPLOYED"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==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anom_val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astype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int8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df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"DAYS_EMPLOYED"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==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anom_val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"DAYS_EMPLOYED"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np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nan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df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1020">
              <a:alpha val="90000"/>
            </a:srgbClr>
          </a:solidFill>
          <a:ln w="12700">
            <a:solidFill>
              <a:srgbClr val="0B102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HU"/>
          </a:p>
        </p:txBody>
      </p:sp>
      <p:sp>
        <p:nvSpPr>
          <p:cNvPr id="21" name="Text 19"/>
          <p:cNvSpPr/>
          <p:nvPr/>
        </p:nvSpPr>
        <p:spPr>
          <a:xfrm>
            <a:off x="502920" y="6620256"/>
            <a:ext cx="816833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Credit Default Risk • ML Pipeline (Python)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9677095" y="6629400"/>
            <a:ext cx="2011680" cy="128016"/>
          </a:xfrm>
          <a:prstGeom prst="roundRect">
            <a:avLst/>
          </a:prstGeom>
          <a:solidFill>
            <a:srgbClr val="0F1730"/>
          </a:solidFill>
          <a:ln w="12700">
            <a:solidFill>
              <a:srgbClr val="25304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HU"/>
          </a:p>
        </p:txBody>
      </p:sp>
      <p:sp>
        <p:nvSpPr>
          <p:cNvPr id="23" name="Shape 21"/>
          <p:cNvSpPr/>
          <p:nvPr/>
        </p:nvSpPr>
        <p:spPr>
          <a:xfrm>
            <a:off x="9677095" y="6629400"/>
            <a:ext cx="1005840" cy="128016"/>
          </a:xfrm>
          <a:prstGeom prst="roundRect">
            <a:avLst/>
          </a:prstGeom>
          <a:solidFill>
            <a:srgbClr val="00E5FF"/>
          </a:solidFill>
          <a:ln w="12700">
            <a:solidFill>
              <a:srgbClr val="00E5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HU"/>
          </a:p>
        </p:txBody>
      </p:sp>
      <p:sp>
        <p:nvSpPr>
          <p:cNvPr id="24" name="Text 22"/>
          <p:cNvSpPr/>
          <p:nvPr/>
        </p:nvSpPr>
        <p:spPr>
          <a:xfrm>
            <a:off x="8945575" y="6592824"/>
            <a:ext cx="685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5/10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6C5CE7">
              <a:alpha val="86000"/>
            </a:srgbClr>
          </a:solidFill>
          <a:ln w="12700">
            <a:solidFill>
              <a:srgbClr val="6C5CE7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0" y="749808"/>
            <a:ext cx="12191695" cy="54864"/>
          </a:xfrm>
          <a:prstGeom prst="rect">
            <a:avLst/>
          </a:prstGeom>
          <a:solidFill>
            <a:srgbClr val="FF2D95"/>
          </a:solidFill>
          <a:ln w="12700">
            <a:solidFill>
              <a:srgbClr val="FF2D95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0" y="804672"/>
            <a:ext cx="12191695" cy="36576"/>
          </a:xfrm>
          <a:prstGeom prst="rect">
            <a:avLst/>
          </a:prstGeom>
          <a:solidFill>
            <a:srgbClr val="A3FF12"/>
          </a:solidFill>
          <a:ln w="12700">
            <a:solidFill>
              <a:srgbClr val="A3FF12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502920" y="320040"/>
            <a:ext cx="4754880" cy="384048"/>
          </a:xfrm>
          <a:prstGeom prst="roundRect">
            <a:avLst/>
          </a:prstGeom>
          <a:solidFill>
            <a:srgbClr val="111A33"/>
          </a:solidFill>
          <a:ln w="12700">
            <a:solidFill>
              <a:srgbClr val="25304F">
                <a:alpha val="70000"/>
              </a:srgbClr>
            </a:solidFill>
            <a:prstDash val="solid"/>
          </a:ln>
          <a:effectLst>
            <a:outerShdw blurRad="38100" dist="1524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667512" y="374904"/>
            <a:ext cx="442569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3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Modeling &amp; Validation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10515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3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Modeling approach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502920" y="1600200"/>
            <a:ext cx="5806440" cy="1965960"/>
          </a:xfrm>
          <a:prstGeom prst="roundRect">
            <a:avLst/>
          </a:prstGeom>
          <a:solidFill>
            <a:srgbClr val="111A33"/>
          </a:solidFill>
          <a:ln w="12700">
            <a:solidFill>
              <a:srgbClr val="25304F">
                <a:alpha val="60000"/>
              </a:srgbClr>
            </a:solidFill>
            <a:prstDash val="solid"/>
          </a:ln>
          <a:effectLst>
            <a:outerShdw blurRad="38100" dist="1524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502920" y="1600200"/>
            <a:ext cx="91440" cy="1965960"/>
          </a:xfrm>
          <a:prstGeom prst="roundRect">
            <a:avLst/>
          </a:prstGeom>
          <a:solidFill>
            <a:srgbClr val="6C5CE7"/>
          </a:solidFill>
          <a:ln w="12700">
            <a:solidFill>
              <a:srgbClr val="6C5CE7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704088" y="1764792"/>
            <a:ext cx="54955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3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options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04088" y="2167128"/>
            <a:ext cx="5495544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  <a:defRPr/>
            </a:pPr>
            <a:r>
              <a:rPr lang="en-US" sz="12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Logistic Regression: stable baseline for sparse one-hot features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  <a:defRPr/>
            </a:pPr>
            <a:r>
              <a:rPr lang="en-US" sz="12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LightGBM (optional): higher performance; enable with --prefer-lightgbm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  <a:defRPr/>
            </a:pPr>
            <a:endParaRPr lang="en-US" sz="1200" dirty="0"/>
          </a:p>
          <a:p>
            <a:pPr marL="0" indent="0">
              <a:lnSpc>
                <a:spcPct val="115000"/>
              </a:lnSpc>
              <a:buNone/>
              <a:defRPr/>
            </a:pPr>
            <a:r>
              <a:rPr lang="en-US" sz="12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Fallback: if LightGBM is missing/unusable, a warning is logged and Logistic Regression is used.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02920" y="3749040"/>
            <a:ext cx="5806440" cy="2377440"/>
          </a:xfrm>
          <a:prstGeom prst="roundRect">
            <a:avLst/>
          </a:prstGeom>
          <a:solidFill>
            <a:srgbClr val="111A33"/>
          </a:solidFill>
          <a:ln w="12700">
            <a:solidFill>
              <a:srgbClr val="25304F">
                <a:alpha val="60000"/>
              </a:srgbClr>
            </a:solidFill>
            <a:prstDash val="solid"/>
          </a:ln>
          <a:effectLst>
            <a:outerShdw blurRad="38100" dist="1524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502920" y="3749040"/>
            <a:ext cx="91440" cy="2377440"/>
          </a:xfrm>
          <a:prstGeom prst="roundRect">
            <a:avLst/>
          </a:prstGeom>
          <a:solidFill>
            <a:srgbClr val="00E5FF"/>
          </a:solidFill>
          <a:ln w="12700">
            <a:solidFill>
              <a:srgbClr val="00E5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704088" y="3913632"/>
            <a:ext cx="54955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3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04088" y="4315968"/>
            <a:ext cx="5495544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Stratified K-Fold cross-validation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ROC-AUC per fold + mean AUC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Designed to detect leakage / instability early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537960" y="1600200"/>
            <a:ext cx="5650992" cy="4526280"/>
          </a:xfrm>
          <a:prstGeom prst="roundRect">
            <a:avLst/>
          </a:prstGeom>
          <a:solidFill>
            <a:srgbClr val="0A0F1F"/>
          </a:solidFill>
          <a:ln w="12700">
            <a:solidFill>
              <a:srgbClr val="233055">
                <a:alpha val="70000"/>
              </a:srgbClr>
            </a:solidFill>
            <a:prstDash val="solid"/>
          </a:ln>
          <a:effectLst>
            <a:outerShdw blurRad="38100" dist="1524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6739128" y="1746504"/>
            <a:ext cx="5248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modeling.py (model selection + CV)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739128" y="2057400"/>
            <a:ext cx="5248656" cy="3904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sz="1400">
                <a:solidFill>
                  <a:srgbClr val="8292A2"/>
                </a:solidFill>
                <a:latin typeface="Consolas"/>
              </a:rPr>
              <a:t>1 def try_build_model(prefer_lightgbm: bool):</a:t>
            </a:r>
            <a:endParaRPr lang="en-US" sz="1200" dirty="0"/>
          </a:p>
          <a:p>
            <a:r>
              <a:rPr sz="1400">
                <a:solidFill>
                  <a:srgbClr val="8292A2"/>
                </a:solidFill>
                <a:latin typeface="Consolas"/>
              </a:rPr>
              <a:t>2     if prefer_lightgbm:</a:t>
            </a:r>
          </a:p>
          <a:p>
            <a:r>
              <a:rPr sz="1400">
                <a:solidFill>
                  <a:srgbClr val="8292A2"/>
                </a:solidFill>
                <a:latin typeface="Consolas"/>
              </a:rPr>
              <a:t>3         try:</a:t>
            </a:r>
          </a:p>
          <a:p>
            <a:r>
              <a:rPr sz="1400">
                <a:solidFill>
                  <a:srgbClr val="8292A2"/>
                </a:solidFill>
                <a:latin typeface="Consolas"/>
              </a:rPr>
              <a:t>4             from lightgbm import LGBMClassifier</a:t>
            </a:r>
          </a:p>
          <a:p>
            <a:r>
              <a:rPr sz="1400">
                <a:solidFill>
                  <a:srgbClr val="8292A2"/>
                </a:solidFill>
                <a:latin typeface="Consolas"/>
              </a:rPr>
              <a:t>5             return LGBMClassifier(**CONFIG.lgbm_params)</a:t>
            </a:r>
          </a:p>
          <a:p>
            <a:r>
              <a:rPr sz="1400">
                <a:solidFill>
                  <a:srgbClr val="8292A2"/>
                </a:solidFill>
                <a:latin typeface="Consolas"/>
              </a:rPr>
              <a:t>6         except Exception as e:</a:t>
            </a:r>
          </a:p>
          <a:p>
            <a:r>
              <a:rPr sz="1400">
                <a:solidFill>
                  <a:srgbClr val="8292A2"/>
                </a:solidFill>
                <a:latin typeface="Consolas"/>
              </a:rPr>
              <a:t>7             logger.warning('LightGBM not usable; falling back to LR')</a:t>
            </a:r>
          </a:p>
          <a:p>
            <a:r>
              <a:rPr sz="1400">
                <a:solidFill>
                  <a:srgbClr val="8292A2"/>
                </a:solidFill>
                <a:latin typeface="Consolas"/>
              </a:rPr>
              <a:t>8     return LogisticRegression(**CONFIG.logreg_params)</a:t>
            </a:r>
          </a:p>
        </p:txBody>
      </p:sp>
      <p:sp>
        <p:nvSpPr>
          <p:cNvPr id="20" name="Shape 18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1020">
              <a:alpha val="90000"/>
            </a:srgbClr>
          </a:solidFill>
          <a:ln w="12700">
            <a:solidFill>
              <a:srgbClr val="0B102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HU"/>
          </a:p>
        </p:txBody>
      </p:sp>
      <p:sp>
        <p:nvSpPr>
          <p:cNvPr id="21" name="Text 19"/>
          <p:cNvSpPr/>
          <p:nvPr/>
        </p:nvSpPr>
        <p:spPr>
          <a:xfrm>
            <a:off x="502920" y="6620256"/>
            <a:ext cx="816833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Credit Default Risk • ML Pipeline (Python)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9677095" y="6629400"/>
            <a:ext cx="2011680" cy="128016"/>
          </a:xfrm>
          <a:prstGeom prst="roundRect">
            <a:avLst/>
          </a:prstGeom>
          <a:solidFill>
            <a:srgbClr val="0F1730"/>
          </a:solidFill>
          <a:ln w="12700">
            <a:solidFill>
              <a:srgbClr val="25304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HU"/>
          </a:p>
        </p:txBody>
      </p:sp>
      <p:sp>
        <p:nvSpPr>
          <p:cNvPr id="23" name="Shape 21"/>
          <p:cNvSpPr/>
          <p:nvPr/>
        </p:nvSpPr>
        <p:spPr>
          <a:xfrm>
            <a:off x="9677095" y="6629400"/>
            <a:ext cx="1207008" cy="128016"/>
          </a:xfrm>
          <a:prstGeom prst="roundRect">
            <a:avLst/>
          </a:prstGeom>
          <a:solidFill>
            <a:srgbClr val="00E5FF"/>
          </a:solidFill>
          <a:ln w="12700">
            <a:solidFill>
              <a:srgbClr val="00E5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HU"/>
          </a:p>
        </p:txBody>
      </p:sp>
      <p:sp>
        <p:nvSpPr>
          <p:cNvPr id="24" name="Text 22"/>
          <p:cNvSpPr/>
          <p:nvPr/>
        </p:nvSpPr>
        <p:spPr>
          <a:xfrm>
            <a:off x="8945575" y="6592824"/>
            <a:ext cx="685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6/10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  <p:txBody>
          <a:bodyPr/>
          <a:lstStyle/>
          <a:p>
            <a:endParaRPr lang="en-HU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0E5FF">
              <a:alpha val="86000"/>
            </a:srgbClr>
          </a:solidFill>
          <a:ln w="12700">
            <a:solidFill>
              <a:srgbClr val="00E5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HU"/>
          </a:p>
        </p:txBody>
      </p:sp>
      <p:sp>
        <p:nvSpPr>
          <p:cNvPr id="4" name="Shape 2"/>
          <p:cNvSpPr/>
          <p:nvPr/>
        </p:nvSpPr>
        <p:spPr>
          <a:xfrm>
            <a:off x="0" y="749808"/>
            <a:ext cx="12191695" cy="54864"/>
          </a:xfrm>
          <a:prstGeom prst="rect">
            <a:avLst/>
          </a:prstGeom>
          <a:solidFill>
            <a:srgbClr val="FF2D95"/>
          </a:solidFill>
          <a:ln w="12700">
            <a:solidFill>
              <a:srgbClr val="FF2D9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HU"/>
          </a:p>
        </p:txBody>
      </p:sp>
      <p:sp>
        <p:nvSpPr>
          <p:cNvPr id="5" name="Shape 3"/>
          <p:cNvSpPr/>
          <p:nvPr/>
        </p:nvSpPr>
        <p:spPr>
          <a:xfrm>
            <a:off x="0" y="804672"/>
            <a:ext cx="12191695" cy="36576"/>
          </a:xfrm>
          <a:prstGeom prst="rect">
            <a:avLst/>
          </a:prstGeom>
          <a:solidFill>
            <a:srgbClr val="A3FF12"/>
          </a:solidFill>
          <a:ln w="12700">
            <a:solidFill>
              <a:srgbClr val="A3FF1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HU"/>
          </a:p>
        </p:txBody>
      </p:sp>
      <p:sp>
        <p:nvSpPr>
          <p:cNvPr id="6" name="Shape 4"/>
          <p:cNvSpPr/>
          <p:nvPr/>
        </p:nvSpPr>
        <p:spPr>
          <a:xfrm>
            <a:off x="502920" y="320040"/>
            <a:ext cx="2871216" cy="384048"/>
          </a:xfrm>
          <a:prstGeom prst="roundRect">
            <a:avLst/>
          </a:prstGeom>
          <a:solidFill>
            <a:srgbClr val="111A33"/>
          </a:solidFill>
          <a:ln w="12700">
            <a:solidFill>
              <a:srgbClr val="25304F">
                <a:alpha val="70000"/>
              </a:srgbClr>
            </a:solidFill>
            <a:prstDash val="solid"/>
          </a:ln>
          <a:effectLst>
            <a:outerShdw blurRad="38100" dist="1524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HU"/>
          </a:p>
        </p:txBody>
      </p:sp>
      <p:sp>
        <p:nvSpPr>
          <p:cNvPr id="7" name="Text 5"/>
          <p:cNvSpPr/>
          <p:nvPr/>
        </p:nvSpPr>
        <p:spPr>
          <a:xfrm>
            <a:off x="667512" y="374904"/>
            <a:ext cx="25420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3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10515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3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snapshot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502920" y="1664208"/>
            <a:ext cx="2148840" cy="1143000"/>
          </a:xfrm>
          <a:prstGeom prst="roundRect">
            <a:avLst/>
          </a:prstGeom>
          <a:solidFill>
            <a:srgbClr val="111A33"/>
          </a:solidFill>
          <a:ln w="12700">
            <a:solidFill>
              <a:srgbClr val="25304F">
                <a:alpha val="65000"/>
              </a:srgbClr>
            </a:solidFill>
            <a:prstDash val="solid"/>
          </a:ln>
          <a:effectLst>
            <a:outerShdw blurRad="38100" dist="1397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HU"/>
          </a:p>
        </p:txBody>
      </p:sp>
      <p:sp>
        <p:nvSpPr>
          <p:cNvPr id="10" name="Shape 8"/>
          <p:cNvSpPr/>
          <p:nvPr/>
        </p:nvSpPr>
        <p:spPr>
          <a:xfrm>
            <a:off x="502920" y="1664208"/>
            <a:ext cx="2148840" cy="82296"/>
          </a:xfrm>
          <a:prstGeom prst="roundRect">
            <a:avLst/>
          </a:prstGeom>
          <a:solidFill>
            <a:srgbClr val="FF2D95"/>
          </a:solidFill>
          <a:ln w="12700">
            <a:solidFill>
              <a:srgbClr val="FF2D9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HU"/>
          </a:p>
        </p:txBody>
      </p:sp>
      <p:sp>
        <p:nvSpPr>
          <p:cNvPr id="11" name="Text 9"/>
          <p:cNvSpPr/>
          <p:nvPr/>
        </p:nvSpPr>
        <p:spPr>
          <a:xfrm>
            <a:off x="502920" y="1920240"/>
            <a:ext cx="2148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3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0.7487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640080" y="2487168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ROC-AUC (from generated ROC plot)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02920" y="2926080"/>
            <a:ext cx="3429000" cy="3200400"/>
          </a:xfrm>
          <a:prstGeom prst="roundRect">
            <a:avLst/>
          </a:prstGeom>
          <a:solidFill>
            <a:srgbClr val="111A33"/>
          </a:solidFill>
          <a:ln w="12700">
            <a:solidFill>
              <a:srgbClr val="25304F">
                <a:alpha val="60000"/>
              </a:srgbClr>
            </a:solidFill>
            <a:prstDash val="solid"/>
          </a:ln>
          <a:effectLst>
            <a:outerShdw blurRad="38100" dist="1524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HU"/>
          </a:p>
        </p:txBody>
      </p:sp>
      <p:sp>
        <p:nvSpPr>
          <p:cNvPr id="14" name="Shape 12"/>
          <p:cNvSpPr/>
          <p:nvPr/>
        </p:nvSpPr>
        <p:spPr>
          <a:xfrm>
            <a:off x="502920" y="2926080"/>
            <a:ext cx="91440" cy="3200400"/>
          </a:xfrm>
          <a:prstGeom prst="roundRect">
            <a:avLst/>
          </a:prstGeom>
          <a:solidFill>
            <a:srgbClr val="00E5FF"/>
          </a:solidFill>
          <a:ln w="12700">
            <a:solidFill>
              <a:srgbClr val="00E5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HU"/>
          </a:p>
        </p:txBody>
      </p:sp>
      <p:sp>
        <p:nvSpPr>
          <p:cNvPr id="15" name="Text 13"/>
          <p:cNvSpPr/>
          <p:nvPr/>
        </p:nvSpPr>
        <p:spPr>
          <a:xfrm>
            <a:off x="704088" y="3090672"/>
            <a:ext cx="31181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3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04088" y="3493008"/>
            <a:ext cx="3118104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Curve is well above the random baseline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Suitable as a baseline for iteration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Optimize via LightGBM parameters, feature engineering, and calibration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840480" y="1664208"/>
            <a:ext cx="8302752" cy="4462272"/>
          </a:xfrm>
          <a:prstGeom prst="roundRect">
            <a:avLst/>
          </a:prstGeom>
          <a:solidFill>
            <a:srgbClr val="111A33"/>
          </a:solidFill>
          <a:ln w="12700">
            <a:solidFill>
              <a:srgbClr val="25304F">
                <a:alpha val="55000"/>
              </a:srgbClr>
            </a:solidFill>
            <a:prstDash val="solid"/>
          </a:ln>
          <a:effectLst>
            <a:outerShdw blurRad="38100" dist="1524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HU"/>
          </a:p>
        </p:txBody>
      </p:sp>
      <p:pic>
        <p:nvPicPr>
          <p:cNvPr id="18" name="Image 0" descr="/mnt/data/Python_DS/plots/train_roc_curv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2956" y="1792224"/>
            <a:ext cx="5257800" cy="4206240"/>
          </a:xfrm>
          <a:prstGeom prst="rect">
            <a:avLst/>
          </a:prstGeom>
        </p:spPr>
      </p:pic>
      <p:sp>
        <p:nvSpPr>
          <p:cNvPr id="19" name="Shape 1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1020">
              <a:alpha val="90000"/>
            </a:srgbClr>
          </a:solidFill>
          <a:ln w="12700">
            <a:solidFill>
              <a:srgbClr val="0B102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HU"/>
          </a:p>
        </p:txBody>
      </p:sp>
      <p:sp>
        <p:nvSpPr>
          <p:cNvPr id="20" name="Text 17"/>
          <p:cNvSpPr/>
          <p:nvPr/>
        </p:nvSpPr>
        <p:spPr>
          <a:xfrm>
            <a:off x="502920" y="6620256"/>
            <a:ext cx="816833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Credit Default Risk • ML Pipeline (Python)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9677095" y="6629400"/>
            <a:ext cx="2011680" cy="128016"/>
          </a:xfrm>
          <a:prstGeom prst="roundRect">
            <a:avLst/>
          </a:prstGeom>
          <a:solidFill>
            <a:srgbClr val="0F1730"/>
          </a:solidFill>
          <a:ln w="12700">
            <a:solidFill>
              <a:srgbClr val="25304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HU"/>
          </a:p>
        </p:txBody>
      </p:sp>
      <p:sp>
        <p:nvSpPr>
          <p:cNvPr id="22" name="Shape 19"/>
          <p:cNvSpPr/>
          <p:nvPr/>
        </p:nvSpPr>
        <p:spPr>
          <a:xfrm>
            <a:off x="9677095" y="6629400"/>
            <a:ext cx="1408176" cy="128016"/>
          </a:xfrm>
          <a:prstGeom prst="roundRect">
            <a:avLst/>
          </a:prstGeom>
          <a:solidFill>
            <a:srgbClr val="00E5FF"/>
          </a:solidFill>
          <a:ln w="12700">
            <a:solidFill>
              <a:srgbClr val="00E5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HU"/>
          </a:p>
        </p:txBody>
      </p:sp>
      <p:sp>
        <p:nvSpPr>
          <p:cNvPr id="23" name="Text 20"/>
          <p:cNvSpPr/>
          <p:nvPr/>
        </p:nvSpPr>
        <p:spPr>
          <a:xfrm>
            <a:off x="8945575" y="6592824"/>
            <a:ext cx="685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7/10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  <p:txBody>
          <a:bodyPr/>
          <a:lstStyle/>
          <a:p>
            <a:endParaRPr lang="en-HU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FF2D95">
              <a:alpha val="86000"/>
            </a:srgbClr>
          </a:solidFill>
          <a:ln w="12700">
            <a:solidFill>
              <a:srgbClr val="FF2D9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HU"/>
          </a:p>
        </p:txBody>
      </p:sp>
      <p:sp>
        <p:nvSpPr>
          <p:cNvPr id="4" name="Shape 2"/>
          <p:cNvSpPr/>
          <p:nvPr/>
        </p:nvSpPr>
        <p:spPr>
          <a:xfrm>
            <a:off x="0" y="749808"/>
            <a:ext cx="12191695" cy="54864"/>
          </a:xfrm>
          <a:prstGeom prst="rect">
            <a:avLst/>
          </a:prstGeom>
          <a:solidFill>
            <a:srgbClr val="FF2D95"/>
          </a:solidFill>
          <a:ln w="12700">
            <a:solidFill>
              <a:srgbClr val="FF2D9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HU"/>
          </a:p>
        </p:txBody>
      </p:sp>
      <p:sp>
        <p:nvSpPr>
          <p:cNvPr id="5" name="Shape 3"/>
          <p:cNvSpPr/>
          <p:nvPr/>
        </p:nvSpPr>
        <p:spPr>
          <a:xfrm>
            <a:off x="0" y="804672"/>
            <a:ext cx="12191695" cy="36576"/>
          </a:xfrm>
          <a:prstGeom prst="rect">
            <a:avLst/>
          </a:prstGeom>
          <a:solidFill>
            <a:srgbClr val="A3FF12"/>
          </a:solidFill>
          <a:ln w="12700">
            <a:solidFill>
              <a:srgbClr val="A3FF1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HU"/>
          </a:p>
        </p:txBody>
      </p:sp>
      <p:sp>
        <p:nvSpPr>
          <p:cNvPr id="6" name="Shape 4"/>
          <p:cNvSpPr/>
          <p:nvPr/>
        </p:nvSpPr>
        <p:spPr>
          <a:xfrm>
            <a:off x="502920" y="320040"/>
            <a:ext cx="4279392" cy="384048"/>
          </a:xfrm>
          <a:prstGeom prst="roundRect">
            <a:avLst/>
          </a:prstGeom>
          <a:solidFill>
            <a:srgbClr val="111A33"/>
          </a:solidFill>
          <a:ln w="12700">
            <a:solidFill>
              <a:srgbClr val="25304F">
                <a:alpha val="70000"/>
              </a:srgbClr>
            </a:solidFill>
            <a:prstDash val="solid"/>
          </a:ln>
          <a:effectLst>
            <a:outerShdw blurRad="38100" dist="1524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HU"/>
          </a:p>
        </p:txBody>
      </p:sp>
      <p:sp>
        <p:nvSpPr>
          <p:cNvPr id="7" name="Text 5"/>
          <p:cNvSpPr/>
          <p:nvPr/>
        </p:nvSpPr>
        <p:spPr>
          <a:xfrm>
            <a:off x="667512" y="374904"/>
            <a:ext cx="39502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3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10515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3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feature importances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502920" y="1600200"/>
            <a:ext cx="6629400" cy="4526280"/>
          </a:xfrm>
          <a:prstGeom prst="roundRect">
            <a:avLst/>
          </a:prstGeom>
          <a:solidFill>
            <a:srgbClr val="111A33"/>
          </a:solidFill>
          <a:ln w="12700">
            <a:solidFill>
              <a:srgbClr val="25304F">
                <a:alpha val="55000"/>
              </a:srgbClr>
            </a:solidFill>
            <a:prstDash val="solid"/>
          </a:ln>
          <a:effectLst>
            <a:outerShdw blurRad="38100" dist="1524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HU"/>
          </a:p>
        </p:txBody>
      </p:sp>
      <p:pic>
        <p:nvPicPr>
          <p:cNvPr id="10" name="Image 0" descr="/mnt/data/Python_DS/plots/feature_importa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0145" y="1737360"/>
            <a:ext cx="5314950" cy="425196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6903720" y="1600200"/>
            <a:ext cx="5285232" cy="2148840"/>
          </a:xfrm>
          <a:prstGeom prst="roundRect">
            <a:avLst/>
          </a:prstGeom>
          <a:solidFill>
            <a:srgbClr val="111A33"/>
          </a:solidFill>
          <a:ln w="12700">
            <a:solidFill>
              <a:srgbClr val="25304F">
                <a:alpha val="60000"/>
              </a:srgbClr>
            </a:solidFill>
            <a:prstDash val="solid"/>
          </a:ln>
          <a:effectLst>
            <a:outerShdw blurRad="38100" dist="1524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HU"/>
          </a:p>
        </p:txBody>
      </p:sp>
      <p:sp>
        <p:nvSpPr>
          <p:cNvPr id="12" name="Shape 9"/>
          <p:cNvSpPr/>
          <p:nvPr/>
        </p:nvSpPr>
        <p:spPr>
          <a:xfrm>
            <a:off x="6903720" y="1600200"/>
            <a:ext cx="91440" cy="2148840"/>
          </a:xfrm>
          <a:prstGeom prst="roundRect">
            <a:avLst/>
          </a:prstGeom>
          <a:solidFill>
            <a:srgbClr val="A3FF12"/>
          </a:solidFill>
          <a:ln w="12700">
            <a:solidFill>
              <a:srgbClr val="A3FF1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HU"/>
          </a:p>
        </p:txBody>
      </p:sp>
      <p:sp>
        <p:nvSpPr>
          <p:cNvPr id="13" name="Text 10"/>
          <p:cNvSpPr/>
          <p:nvPr/>
        </p:nvSpPr>
        <p:spPr>
          <a:xfrm>
            <a:off x="7104888" y="1764792"/>
            <a:ext cx="49743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3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shows up as important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7104888" y="2167128"/>
            <a:ext cx="4974336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generated plot, high-impact signals include: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AMT_GOODS_PRICE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AMT_CREDIT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EXT_SOURCE_3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typically capture affordability + bureau-derived scores.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6903720" y="3931920"/>
            <a:ext cx="5285232" cy="2194560"/>
          </a:xfrm>
          <a:prstGeom prst="roundRect">
            <a:avLst/>
          </a:prstGeom>
          <a:solidFill>
            <a:srgbClr val="111A33"/>
          </a:solidFill>
          <a:ln w="12700">
            <a:solidFill>
              <a:srgbClr val="25304F">
                <a:alpha val="60000"/>
              </a:srgbClr>
            </a:solidFill>
            <a:prstDash val="solid"/>
          </a:ln>
          <a:effectLst>
            <a:outerShdw blurRad="38100" dist="1524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HU"/>
          </a:p>
        </p:txBody>
      </p:sp>
      <p:sp>
        <p:nvSpPr>
          <p:cNvPr id="16" name="Shape 13"/>
          <p:cNvSpPr/>
          <p:nvPr/>
        </p:nvSpPr>
        <p:spPr>
          <a:xfrm>
            <a:off x="6903720" y="3931920"/>
            <a:ext cx="91440" cy="2194560"/>
          </a:xfrm>
          <a:prstGeom prst="roundRect">
            <a:avLst/>
          </a:prstGeom>
          <a:solidFill>
            <a:srgbClr val="00E5FF"/>
          </a:solidFill>
          <a:ln w="12700">
            <a:solidFill>
              <a:srgbClr val="00E5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HU"/>
          </a:p>
        </p:txBody>
      </p:sp>
      <p:sp>
        <p:nvSpPr>
          <p:cNvPr id="17" name="Text 14"/>
          <p:cNvSpPr/>
          <p:nvPr/>
        </p:nvSpPr>
        <p:spPr>
          <a:xfrm>
            <a:off x="7104888" y="4096512"/>
            <a:ext cx="49743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3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use this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7104888" y="4498848"/>
            <a:ext cx="4974336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Sanity-check: does the model rely on plausible signals?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Identify data quality needs (missingness, scaling)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Inform next features (ratios, interactions, domain rules)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1020">
              <a:alpha val="90000"/>
            </a:srgbClr>
          </a:solidFill>
          <a:ln w="12700">
            <a:solidFill>
              <a:srgbClr val="0B102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HU"/>
          </a:p>
        </p:txBody>
      </p:sp>
      <p:sp>
        <p:nvSpPr>
          <p:cNvPr id="20" name="Text 17"/>
          <p:cNvSpPr/>
          <p:nvPr/>
        </p:nvSpPr>
        <p:spPr>
          <a:xfrm>
            <a:off x="502920" y="6620256"/>
            <a:ext cx="816833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Credit Default Risk • ML Pipeline (Python)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9677095" y="6629400"/>
            <a:ext cx="2011680" cy="128016"/>
          </a:xfrm>
          <a:prstGeom prst="roundRect">
            <a:avLst/>
          </a:prstGeom>
          <a:solidFill>
            <a:srgbClr val="0F1730"/>
          </a:solidFill>
          <a:ln w="12700">
            <a:solidFill>
              <a:srgbClr val="25304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HU"/>
          </a:p>
        </p:txBody>
      </p:sp>
      <p:sp>
        <p:nvSpPr>
          <p:cNvPr id="22" name="Shape 19"/>
          <p:cNvSpPr/>
          <p:nvPr/>
        </p:nvSpPr>
        <p:spPr>
          <a:xfrm>
            <a:off x="9677095" y="6629400"/>
            <a:ext cx="1609344" cy="128016"/>
          </a:xfrm>
          <a:prstGeom prst="roundRect">
            <a:avLst/>
          </a:prstGeom>
          <a:solidFill>
            <a:srgbClr val="00E5FF"/>
          </a:solidFill>
          <a:ln w="12700">
            <a:solidFill>
              <a:srgbClr val="00E5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HU"/>
          </a:p>
        </p:txBody>
      </p:sp>
      <p:sp>
        <p:nvSpPr>
          <p:cNvPr id="23" name="Text 20"/>
          <p:cNvSpPr/>
          <p:nvPr/>
        </p:nvSpPr>
        <p:spPr>
          <a:xfrm>
            <a:off x="8945575" y="6592824"/>
            <a:ext cx="685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8/10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  <p:txBody>
          <a:bodyPr/>
          <a:lstStyle/>
          <a:p>
            <a:endParaRPr lang="en-HU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A3FF12">
              <a:alpha val="86000"/>
            </a:srgbClr>
          </a:solidFill>
          <a:ln w="12700">
            <a:solidFill>
              <a:srgbClr val="A3FF1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HU"/>
          </a:p>
        </p:txBody>
      </p:sp>
      <p:sp>
        <p:nvSpPr>
          <p:cNvPr id="4" name="Shape 2"/>
          <p:cNvSpPr/>
          <p:nvPr/>
        </p:nvSpPr>
        <p:spPr>
          <a:xfrm>
            <a:off x="0" y="749808"/>
            <a:ext cx="12191695" cy="54864"/>
          </a:xfrm>
          <a:prstGeom prst="rect">
            <a:avLst/>
          </a:prstGeom>
          <a:solidFill>
            <a:srgbClr val="FF2D95"/>
          </a:solidFill>
          <a:ln w="12700">
            <a:solidFill>
              <a:srgbClr val="FF2D9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HU"/>
          </a:p>
        </p:txBody>
      </p:sp>
      <p:sp>
        <p:nvSpPr>
          <p:cNvPr id="5" name="Shape 3"/>
          <p:cNvSpPr/>
          <p:nvPr/>
        </p:nvSpPr>
        <p:spPr>
          <a:xfrm>
            <a:off x="0" y="804672"/>
            <a:ext cx="12191695" cy="36576"/>
          </a:xfrm>
          <a:prstGeom prst="rect">
            <a:avLst/>
          </a:prstGeom>
          <a:solidFill>
            <a:srgbClr val="A3FF12"/>
          </a:solidFill>
          <a:ln w="12700">
            <a:solidFill>
              <a:srgbClr val="A3FF1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HU"/>
          </a:p>
        </p:txBody>
      </p:sp>
      <p:sp>
        <p:nvSpPr>
          <p:cNvPr id="6" name="Shape 4"/>
          <p:cNvSpPr/>
          <p:nvPr/>
        </p:nvSpPr>
        <p:spPr>
          <a:xfrm>
            <a:off x="502920" y="320040"/>
            <a:ext cx="3675888" cy="384048"/>
          </a:xfrm>
          <a:prstGeom prst="roundRect">
            <a:avLst/>
          </a:prstGeom>
          <a:solidFill>
            <a:srgbClr val="111A33"/>
          </a:solidFill>
          <a:ln w="12700">
            <a:solidFill>
              <a:srgbClr val="25304F">
                <a:alpha val="70000"/>
              </a:srgbClr>
            </a:solidFill>
            <a:prstDash val="solid"/>
          </a:ln>
          <a:effectLst>
            <a:outerShdw blurRad="38100" dist="1524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HU"/>
          </a:p>
        </p:txBody>
      </p:sp>
      <p:sp>
        <p:nvSpPr>
          <p:cNvPr id="7" name="Text 5"/>
          <p:cNvSpPr/>
          <p:nvPr/>
        </p:nvSpPr>
        <p:spPr>
          <a:xfrm>
            <a:off x="667512" y="374904"/>
            <a:ext cx="334670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3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10515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3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distribution checks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502920" y="1600200"/>
            <a:ext cx="7452360" cy="4526280"/>
          </a:xfrm>
          <a:prstGeom prst="roundRect">
            <a:avLst/>
          </a:prstGeom>
          <a:solidFill>
            <a:srgbClr val="111A33"/>
          </a:solidFill>
          <a:ln w="12700">
            <a:solidFill>
              <a:srgbClr val="25304F">
                <a:alpha val="55000"/>
              </a:srgbClr>
            </a:solidFill>
            <a:prstDash val="solid"/>
          </a:ln>
          <a:effectLst>
            <a:outerShdw blurRad="38100" dist="1524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HU"/>
          </a:p>
        </p:txBody>
      </p:sp>
      <p:pic>
        <p:nvPicPr>
          <p:cNvPr id="10" name="Image 0" descr="/mnt/data/Python_DS/plots/train_test_distribution_compari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769745"/>
            <a:ext cx="7178040" cy="418719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8183880" y="1600200"/>
            <a:ext cx="4005072" cy="2331720"/>
          </a:xfrm>
          <a:prstGeom prst="roundRect">
            <a:avLst/>
          </a:prstGeom>
          <a:solidFill>
            <a:srgbClr val="111A33"/>
          </a:solidFill>
          <a:ln w="12700">
            <a:solidFill>
              <a:srgbClr val="25304F">
                <a:alpha val="60000"/>
              </a:srgbClr>
            </a:solidFill>
            <a:prstDash val="solid"/>
          </a:ln>
          <a:effectLst>
            <a:outerShdw blurRad="38100" dist="1524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HU"/>
          </a:p>
        </p:txBody>
      </p:sp>
      <p:sp>
        <p:nvSpPr>
          <p:cNvPr id="12" name="Shape 9"/>
          <p:cNvSpPr/>
          <p:nvPr/>
        </p:nvSpPr>
        <p:spPr>
          <a:xfrm>
            <a:off x="8183880" y="1600200"/>
            <a:ext cx="91440" cy="2331720"/>
          </a:xfrm>
          <a:prstGeom prst="roundRect">
            <a:avLst/>
          </a:prstGeom>
          <a:solidFill>
            <a:srgbClr val="FFB000"/>
          </a:solidFill>
          <a:ln w="12700">
            <a:solidFill>
              <a:srgbClr val="FFB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HU"/>
          </a:p>
        </p:txBody>
      </p:sp>
      <p:sp>
        <p:nvSpPr>
          <p:cNvPr id="13" name="Text 10"/>
          <p:cNvSpPr/>
          <p:nvPr/>
        </p:nvSpPr>
        <p:spPr>
          <a:xfrm>
            <a:off x="8385048" y="1764792"/>
            <a:ext cx="36941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3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plot exists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8385048" y="2167128"/>
            <a:ext cx="3694176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quick distribution comparison helps spot: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train/test shift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extreme overconfidence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probability calibration issues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8183880" y="4069080"/>
            <a:ext cx="4005072" cy="2057400"/>
          </a:xfrm>
          <a:prstGeom prst="roundRect">
            <a:avLst/>
          </a:prstGeom>
          <a:solidFill>
            <a:srgbClr val="111A33"/>
          </a:solidFill>
          <a:ln w="12700">
            <a:solidFill>
              <a:srgbClr val="25304F">
                <a:alpha val="60000"/>
              </a:srgbClr>
            </a:solidFill>
            <a:prstDash val="solid"/>
          </a:ln>
          <a:effectLst>
            <a:outerShdw blurRad="38100" dist="1524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HU"/>
          </a:p>
        </p:txBody>
      </p:sp>
      <p:sp>
        <p:nvSpPr>
          <p:cNvPr id="16" name="Shape 13"/>
          <p:cNvSpPr/>
          <p:nvPr/>
        </p:nvSpPr>
        <p:spPr>
          <a:xfrm>
            <a:off x="8183880" y="4069080"/>
            <a:ext cx="91440" cy="2057400"/>
          </a:xfrm>
          <a:prstGeom prst="roundRect">
            <a:avLst/>
          </a:prstGeom>
          <a:solidFill>
            <a:srgbClr val="00E5FF"/>
          </a:solidFill>
          <a:ln w="12700">
            <a:solidFill>
              <a:srgbClr val="00E5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HU"/>
          </a:p>
        </p:txBody>
      </p:sp>
      <p:sp>
        <p:nvSpPr>
          <p:cNvPr id="17" name="Text 14"/>
          <p:cNvSpPr/>
          <p:nvPr/>
        </p:nvSpPr>
        <p:spPr>
          <a:xfrm>
            <a:off x="8385048" y="4233672"/>
            <a:ext cx="36941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3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guardrails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8385048" y="4636008"/>
            <a:ext cx="3694176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Consistent preprocessing across splits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Timestamped submissions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Unit tests for preprocessing + modeling components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1020">
              <a:alpha val="90000"/>
            </a:srgbClr>
          </a:solidFill>
          <a:ln w="12700">
            <a:solidFill>
              <a:srgbClr val="0B102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HU"/>
          </a:p>
        </p:txBody>
      </p:sp>
      <p:sp>
        <p:nvSpPr>
          <p:cNvPr id="20" name="Text 17"/>
          <p:cNvSpPr/>
          <p:nvPr/>
        </p:nvSpPr>
        <p:spPr>
          <a:xfrm>
            <a:off x="502920" y="6620256"/>
            <a:ext cx="816833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Credit Default Risk • ML Pipeline (Python)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9677095" y="6629400"/>
            <a:ext cx="2011680" cy="128016"/>
          </a:xfrm>
          <a:prstGeom prst="roundRect">
            <a:avLst/>
          </a:prstGeom>
          <a:solidFill>
            <a:srgbClr val="0F1730"/>
          </a:solidFill>
          <a:ln w="12700">
            <a:solidFill>
              <a:srgbClr val="25304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HU"/>
          </a:p>
        </p:txBody>
      </p:sp>
      <p:sp>
        <p:nvSpPr>
          <p:cNvPr id="22" name="Shape 19"/>
          <p:cNvSpPr/>
          <p:nvPr/>
        </p:nvSpPr>
        <p:spPr>
          <a:xfrm>
            <a:off x="9677095" y="6629400"/>
            <a:ext cx="1810512" cy="128016"/>
          </a:xfrm>
          <a:prstGeom prst="roundRect">
            <a:avLst/>
          </a:prstGeom>
          <a:solidFill>
            <a:srgbClr val="00E5FF"/>
          </a:solidFill>
          <a:ln w="12700">
            <a:solidFill>
              <a:srgbClr val="00E5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HU"/>
          </a:p>
        </p:txBody>
      </p:sp>
      <p:sp>
        <p:nvSpPr>
          <p:cNvPr id="23" name="Text 20"/>
          <p:cNvSpPr/>
          <p:nvPr/>
        </p:nvSpPr>
        <p:spPr>
          <a:xfrm>
            <a:off x="8945575" y="6592824"/>
            <a:ext cx="685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9/10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  <p:txBody>
          <a:bodyPr/>
          <a:lstStyle/>
          <a:p>
            <a:endParaRPr lang="en-HU"/>
          </a:p>
        </p:txBody>
      </p:sp>
      <p:pic>
        <p:nvPicPr>
          <p:cNvPr id="3" name="Image 0" descr="/mnt/data/slide_assets/unsplash_trading_tablet_1800.png"/>
          <p:cNvPicPr>
            <a:picLocks noChangeAspect="1"/>
          </p:cNvPicPr>
          <p:nvPr/>
        </p:nvPicPr>
        <p:blipFill>
          <a:blip r:embed="rId3"/>
          <a:srcRect t="31243" b="31243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>
              <a:alpha val="65000"/>
            </a:srgbClr>
          </a:solidFill>
          <a:ln w="12700">
            <a:solidFill>
              <a:srgbClr val="0B102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HU"/>
          </a:p>
        </p:txBody>
      </p:sp>
      <p:sp>
        <p:nvSpPr>
          <p:cNvPr id="5" name="Shap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0E5FF">
              <a:alpha val="86000"/>
            </a:srgbClr>
          </a:solidFill>
          <a:ln w="12700">
            <a:solidFill>
              <a:srgbClr val="00E5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HU"/>
          </a:p>
        </p:txBody>
      </p:sp>
      <p:sp>
        <p:nvSpPr>
          <p:cNvPr id="6" name="Shape 3"/>
          <p:cNvSpPr/>
          <p:nvPr/>
        </p:nvSpPr>
        <p:spPr>
          <a:xfrm>
            <a:off x="0" y="749808"/>
            <a:ext cx="12191695" cy="54864"/>
          </a:xfrm>
          <a:prstGeom prst="rect">
            <a:avLst/>
          </a:prstGeom>
          <a:solidFill>
            <a:srgbClr val="FF2D95"/>
          </a:solidFill>
          <a:ln w="12700">
            <a:solidFill>
              <a:srgbClr val="FF2D9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HU"/>
          </a:p>
        </p:txBody>
      </p:sp>
      <p:sp>
        <p:nvSpPr>
          <p:cNvPr id="7" name="Shape 4"/>
          <p:cNvSpPr/>
          <p:nvPr/>
        </p:nvSpPr>
        <p:spPr>
          <a:xfrm>
            <a:off x="0" y="804672"/>
            <a:ext cx="12191695" cy="36576"/>
          </a:xfrm>
          <a:prstGeom prst="rect">
            <a:avLst/>
          </a:prstGeom>
          <a:solidFill>
            <a:srgbClr val="A3FF12"/>
          </a:solidFill>
          <a:ln w="12700">
            <a:solidFill>
              <a:srgbClr val="A3FF1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HU"/>
          </a:p>
        </p:txBody>
      </p:sp>
      <p:sp>
        <p:nvSpPr>
          <p:cNvPr id="8" name="Shape 5"/>
          <p:cNvSpPr/>
          <p:nvPr/>
        </p:nvSpPr>
        <p:spPr>
          <a:xfrm>
            <a:off x="502920" y="320040"/>
            <a:ext cx="4754880" cy="384048"/>
          </a:xfrm>
          <a:prstGeom prst="roundRect">
            <a:avLst/>
          </a:prstGeom>
          <a:solidFill>
            <a:srgbClr val="111A33"/>
          </a:solidFill>
          <a:ln w="12700">
            <a:solidFill>
              <a:srgbClr val="25304F">
                <a:alpha val="70000"/>
              </a:srgbClr>
            </a:solidFill>
            <a:prstDash val="solid"/>
          </a:ln>
          <a:effectLst>
            <a:outerShdw blurRad="38100" dist="1524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HU"/>
          </a:p>
        </p:txBody>
      </p:sp>
      <p:sp>
        <p:nvSpPr>
          <p:cNvPr id="9" name="Text 6"/>
          <p:cNvSpPr/>
          <p:nvPr/>
        </p:nvSpPr>
        <p:spPr>
          <a:xfrm>
            <a:off x="667512" y="374904"/>
            <a:ext cx="442569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3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 &amp; Next Steps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502920" y="105156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3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project delivers</a:t>
            </a:r>
            <a:endParaRPr lang="en-US" sz="2800" dirty="0"/>
          </a:p>
        </p:txBody>
      </p:sp>
      <p:sp>
        <p:nvSpPr>
          <p:cNvPr id="11" name="Shape 8"/>
          <p:cNvSpPr/>
          <p:nvPr/>
        </p:nvSpPr>
        <p:spPr>
          <a:xfrm>
            <a:off x="502920" y="1691640"/>
            <a:ext cx="5760720" cy="2468880"/>
          </a:xfrm>
          <a:prstGeom prst="roundRect">
            <a:avLst/>
          </a:prstGeom>
          <a:solidFill>
            <a:srgbClr val="111A33"/>
          </a:solidFill>
          <a:ln w="12700">
            <a:solidFill>
              <a:srgbClr val="25304F">
                <a:alpha val="60000"/>
              </a:srgbClr>
            </a:solidFill>
            <a:prstDash val="solid"/>
          </a:ln>
          <a:effectLst>
            <a:outerShdw blurRad="38100" dist="1524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HU"/>
          </a:p>
        </p:txBody>
      </p:sp>
      <p:sp>
        <p:nvSpPr>
          <p:cNvPr id="12" name="Shape 9"/>
          <p:cNvSpPr/>
          <p:nvPr/>
        </p:nvSpPr>
        <p:spPr>
          <a:xfrm>
            <a:off x="502920" y="1691640"/>
            <a:ext cx="91440" cy="2468880"/>
          </a:xfrm>
          <a:prstGeom prst="roundRect">
            <a:avLst/>
          </a:prstGeom>
          <a:solidFill>
            <a:srgbClr val="A3FF12"/>
          </a:solidFill>
          <a:ln w="12700">
            <a:solidFill>
              <a:srgbClr val="A3FF1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HU"/>
          </a:p>
        </p:txBody>
      </p:sp>
      <p:sp>
        <p:nvSpPr>
          <p:cNvPr id="13" name="Text 10"/>
          <p:cNvSpPr/>
          <p:nvPr/>
        </p:nvSpPr>
        <p:spPr>
          <a:xfrm>
            <a:off x="704088" y="1856232"/>
            <a:ext cx="54498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3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Achievements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704088" y="2258568"/>
            <a:ext cx="5449824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Modular, testable ML pipeline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Robust preprocessing (impute / scale / OHE)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Dataset-specific anomaly handling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Automated plots + submission export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Baseline performance snapshot (ROC-AUC)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502920" y="4251960"/>
            <a:ext cx="5760720" cy="2194560"/>
          </a:xfrm>
          <a:prstGeom prst="roundRect">
            <a:avLst/>
          </a:prstGeom>
          <a:solidFill>
            <a:srgbClr val="111A33"/>
          </a:solidFill>
          <a:ln w="12700">
            <a:solidFill>
              <a:srgbClr val="25304F">
                <a:alpha val="60000"/>
              </a:srgbClr>
            </a:solidFill>
            <a:prstDash val="solid"/>
          </a:ln>
          <a:effectLst>
            <a:outerShdw blurRad="38100" dist="1524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HU"/>
          </a:p>
        </p:txBody>
      </p:sp>
      <p:sp>
        <p:nvSpPr>
          <p:cNvPr id="16" name="Shape 13"/>
          <p:cNvSpPr/>
          <p:nvPr/>
        </p:nvSpPr>
        <p:spPr>
          <a:xfrm>
            <a:off x="502920" y="4251960"/>
            <a:ext cx="91440" cy="2194560"/>
          </a:xfrm>
          <a:prstGeom prst="roundRect">
            <a:avLst/>
          </a:prstGeom>
          <a:solidFill>
            <a:srgbClr val="FF2D95"/>
          </a:solidFill>
          <a:ln w="12700">
            <a:solidFill>
              <a:srgbClr val="FF2D9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HU"/>
          </a:p>
        </p:txBody>
      </p:sp>
      <p:sp>
        <p:nvSpPr>
          <p:cNvPr id="17" name="Text 14"/>
          <p:cNvSpPr/>
          <p:nvPr/>
        </p:nvSpPr>
        <p:spPr>
          <a:xfrm>
            <a:off x="704088" y="4416552"/>
            <a:ext cx="54498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3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upgrades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704088" y="4818888"/>
            <a:ext cx="5449824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1) Add calibration (Platt / isotonic)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2) Tune LightGBM with early stopping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3) Add engineered ratios (credit-to-income, annuity-to-income)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4) Improve explainability (SHAP)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5) Add data validation checks (schema + drift)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6537960" y="1691640"/>
            <a:ext cx="5650992" cy="4754880"/>
          </a:xfrm>
          <a:prstGeom prst="roundRect">
            <a:avLst/>
          </a:prstGeom>
          <a:solidFill>
            <a:srgbClr val="111A33">
              <a:alpha val="88000"/>
            </a:srgbClr>
          </a:solidFill>
          <a:ln w="12700">
            <a:solidFill>
              <a:srgbClr val="25304F">
                <a:alpha val="45000"/>
              </a:srgbClr>
            </a:solidFill>
            <a:prstDash val="solid"/>
          </a:ln>
          <a:effectLst>
            <a:outerShdw blurRad="50800" dist="15240" dir="2700000" algn="bl" rotWithShape="0">
              <a:srgbClr val="000000">
                <a:alpha val="32000"/>
              </a:srgbClr>
            </a:outerShdw>
          </a:effectLst>
        </p:spPr>
        <p:txBody>
          <a:bodyPr/>
          <a:lstStyle/>
          <a:p>
            <a:endParaRPr lang="en-HU"/>
          </a:p>
        </p:txBody>
      </p:sp>
      <p:pic>
        <p:nvPicPr>
          <p:cNvPr id="20" name="Image 1" descr="/mnt/data/slide_assets/unsplash_trader_pointing_1800.png"/>
          <p:cNvPicPr>
            <a:picLocks noChangeAspect="1"/>
          </p:cNvPicPr>
          <p:nvPr/>
        </p:nvPicPr>
        <p:blipFill>
          <a:blip r:embed="rId4">
            <a:alphaModFix amt="90000"/>
          </a:blip>
          <a:srcRect t="24690" b="24690"/>
          <a:stretch/>
        </p:blipFill>
        <p:spPr>
          <a:xfrm>
            <a:off x="6537960" y="1691640"/>
            <a:ext cx="5650992" cy="4754880"/>
          </a:xfrm>
          <a:prstGeom prst="rect">
            <a:avLst/>
          </a:prstGeom>
        </p:spPr>
      </p:pic>
      <p:sp>
        <p:nvSpPr>
          <p:cNvPr id="21" name="Shape 17"/>
          <p:cNvSpPr/>
          <p:nvPr/>
        </p:nvSpPr>
        <p:spPr>
          <a:xfrm>
            <a:off x="6537960" y="1691640"/>
            <a:ext cx="5650992" cy="4754880"/>
          </a:xfrm>
          <a:prstGeom prst="rect">
            <a:avLst/>
          </a:prstGeom>
          <a:solidFill>
            <a:srgbClr val="0B1020">
              <a:alpha val="55000"/>
            </a:srgbClr>
          </a:solidFill>
          <a:ln w="12700">
            <a:solidFill>
              <a:srgbClr val="0B102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HU"/>
          </a:p>
        </p:txBody>
      </p:sp>
      <p:sp>
        <p:nvSpPr>
          <p:cNvPr id="22" name="Text 18"/>
          <p:cNvSpPr/>
          <p:nvPr/>
        </p:nvSpPr>
        <p:spPr>
          <a:xfrm>
            <a:off x="6812280" y="5760720"/>
            <a:ext cx="5257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7D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step: productionize the pipeline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D7D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monitoring + retraining hooks.</a:t>
            </a:r>
            <a:endParaRPr lang="en-US" sz="1400" dirty="0"/>
          </a:p>
        </p:txBody>
      </p:sp>
      <p:sp>
        <p:nvSpPr>
          <p:cNvPr id="24" name="Shape 19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1020">
              <a:alpha val="90000"/>
            </a:srgbClr>
          </a:solidFill>
          <a:ln w="12700">
            <a:solidFill>
              <a:srgbClr val="0B102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HU"/>
          </a:p>
        </p:txBody>
      </p:sp>
      <p:sp>
        <p:nvSpPr>
          <p:cNvPr id="25" name="Text 20"/>
          <p:cNvSpPr/>
          <p:nvPr/>
        </p:nvSpPr>
        <p:spPr>
          <a:xfrm>
            <a:off x="502920" y="6620256"/>
            <a:ext cx="816833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Credit Default Risk • ML Pipeline (Python)</a:t>
            </a:r>
            <a:endParaRPr lang="en-US" sz="1000" dirty="0"/>
          </a:p>
        </p:txBody>
      </p:sp>
      <p:sp>
        <p:nvSpPr>
          <p:cNvPr id="26" name="Shape 21"/>
          <p:cNvSpPr/>
          <p:nvPr/>
        </p:nvSpPr>
        <p:spPr>
          <a:xfrm>
            <a:off x="9677095" y="6629400"/>
            <a:ext cx="2011680" cy="128016"/>
          </a:xfrm>
          <a:prstGeom prst="roundRect">
            <a:avLst/>
          </a:prstGeom>
          <a:solidFill>
            <a:srgbClr val="0F1730"/>
          </a:solidFill>
          <a:ln w="12700">
            <a:solidFill>
              <a:srgbClr val="25304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HU"/>
          </a:p>
        </p:txBody>
      </p:sp>
      <p:sp>
        <p:nvSpPr>
          <p:cNvPr id="27" name="Shape 22"/>
          <p:cNvSpPr/>
          <p:nvPr/>
        </p:nvSpPr>
        <p:spPr>
          <a:xfrm>
            <a:off x="9677095" y="6629400"/>
            <a:ext cx="2011680" cy="128016"/>
          </a:xfrm>
          <a:prstGeom prst="roundRect">
            <a:avLst/>
          </a:prstGeom>
          <a:solidFill>
            <a:srgbClr val="00E5FF"/>
          </a:solidFill>
          <a:ln w="12700">
            <a:solidFill>
              <a:srgbClr val="00E5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HU"/>
          </a:p>
        </p:txBody>
      </p:sp>
      <p:sp>
        <p:nvSpPr>
          <p:cNvPr id="28" name="Text 23"/>
          <p:cNvSpPr/>
          <p:nvPr/>
        </p:nvSpPr>
        <p:spPr>
          <a:xfrm>
            <a:off x="8945575" y="6592824"/>
            <a:ext cx="685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10/10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1142</Words>
  <Application>Microsoft Macintosh PowerPoint</Application>
  <PresentationFormat>Widescreen</PresentationFormat>
  <Paragraphs>177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 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Home Credit Default Risk - ML Pipeline (Python)</dc:subject>
  <dc:creator>Generated by ChatGPT</dc:creator>
  <cp:lastModifiedBy>Zoltán Bokó</cp:lastModifiedBy>
  <cp:revision>1</cp:revision>
  <dcterms:created xsi:type="dcterms:W3CDTF">2026-01-15T15:47:13Z</dcterms:created>
  <dcterms:modified xsi:type="dcterms:W3CDTF">2026-01-15T16:16:28Z</dcterms:modified>
</cp:coreProperties>
</file>