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6705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73150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— modular machine‑learning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1618488" cy="292608"/>
          </a:xfrm>
          <a:prstGeom prst="roundRect">
            <a:avLst/>
          </a:prstGeom>
          <a:solidFill>
            <a:srgbClr val="19C1C7"/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49040"/>
            <a:ext cx="1618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703320"/>
            <a:ext cx="1540764" cy="292608"/>
          </a:xfrm>
          <a:prstGeom prst="roundRect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749040"/>
            <a:ext cx="1540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Drift‑aware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91356" y="3703320"/>
            <a:ext cx="1540764" cy="292608"/>
          </a:xfrm>
          <a:prstGeom prst="round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1356" y="3749040"/>
            <a:ext cx="1540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1874520" cy="292608"/>
          </a:xfrm>
          <a:prstGeom prst="roundRect">
            <a:avLst/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5137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Kaggle‑ready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42032" y="4105656"/>
            <a:ext cx="2148840" cy="29260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4151376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lifecycle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266" y="3429000"/>
            <a:ext cx="4480560" cy="19202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298" y="3611880"/>
            <a:ext cx="3968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lifecycle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05298" y="4069080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298" y="4114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90130" y="4069080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130" y="4114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05298" y="4379976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298" y="4425696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90130" y="4379976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0130" y="4425696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05298" y="4690872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298" y="473659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90130" y="4690872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130" y="4736592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05298" y="5001768"/>
            <a:ext cx="1883664" cy="2743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298" y="5047488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ML pipeline for probability-of-default prediction using tabular credit-risk data.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0644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294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significance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23160"/>
            <a:ext cx="5294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built to solve the Home Credit Default Risk challenge: ingest, preprocess, feature engineering, model training, evaluation, explainability, and export of submission-ready predictions.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3429000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3749040"/>
            <a:ext cx="5294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automation from raw CSVs to Kaggle submission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Reusable experiments (Poetry + structured configs)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Explainability hooks and drift checks for production-readiness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separation of data prep, features, training, and export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5196535" cy="214884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2039112"/>
            <a:ext cx="4721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(CLI)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9984" y="2636855"/>
            <a:ext cx="4721047" cy="9442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9" name="Image 0" descr="/mnt/data/python_ds_code_quick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691719"/>
            <a:ext cx="4611319" cy="83448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92240" y="4160520"/>
            <a:ext cx="5196535" cy="2148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48272" y="4343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66560" y="4754880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31152" y="4910328"/>
            <a:ext cx="219456" cy="219456"/>
          </a:xfrm>
          <a:prstGeom prst="ellipse">
            <a:avLst/>
          </a:prstGeom>
          <a:solidFill>
            <a:srgbClr val="19C1C7"/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4901184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200236" y="4754880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64828" y="4910328"/>
            <a:ext cx="219456" cy="219456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57436" y="4901184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5449824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31152" y="5605272"/>
            <a:ext cx="219456" cy="219456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5596128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mitigation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200236" y="5449824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64828" y="5605272"/>
            <a:ext cx="219456" cy="219456"/>
          </a:xfrm>
          <a:prstGeom prst="ellipse">
            <a:avLst/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57436" y="5596128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766560" y="6144768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31152" y="6300216"/>
            <a:ext cx="219456" cy="219456"/>
          </a:xfrm>
          <a:prstGeom prst="ellipse">
            <a:avLst/>
          </a:prstGeom>
          <a:solidFill>
            <a:srgbClr val="EE6352"/>
          </a:solidFill>
          <a:ln w="12700">
            <a:solidFill>
              <a:srgbClr val="EE63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23760" y="6291072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Top‑10 risk list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200236" y="6144768"/>
            <a:ext cx="2214220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64828" y="6300216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57436" y="6291072"/>
            <a:ext cx="1665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runs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&amp; inputs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default probability per applicant by joining multiple relational tables into a unified feature store.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0644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294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framing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23160"/>
            <a:ext cx="5294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estimate repayment difficulty for each applicant using both application metadata and behavioral history (bureau, prior applications, POS/cash, installments, card balance).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3337560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(minimal)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3657600"/>
            <a:ext cx="529437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application_train / application_test (primary index)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bureau + bureau_balance (credit history)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previous_application (prior decisions &amp; offers)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installments_payments, POS_CASH_balance, credit_card_balance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engineered ratios + missingness signals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5196535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057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inputs → feature store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95160" y="2697480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2825496"/>
            <a:ext cx="164592" cy="164592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27889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37015" y="2697480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607" y="2825496"/>
            <a:ext cx="164592" cy="164592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1063" y="27889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bureau_balance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37015" y="5486400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1607" y="5614416"/>
            <a:ext cx="164592" cy="164592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1063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credit_card_balance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95160" y="5486400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9752" y="5614416"/>
            <a:ext cx="164592" cy="164592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208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installments_payments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37015" y="4190238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01607" y="4318254"/>
            <a:ext cx="164592" cy="164592"/>
          </a:xfrm>
          <a:prstGeom prst="ellipse">
            <a:avLst/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1063" y="428167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POS_CASH_balance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95160" y="4190238"/>
            <a:ext cx="2148840" cy="41148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4318254"/>
            <a:ext cx="164592" cy="164592"/>
          </a:xfrm>
          <a:prstGeom prst="ellipse">
            <a:avLst/>
          </a:prstGeom>
          <a:solidFill>
            <a:srgbClr val="EE6352"/>
          </a:solidFill>
          <a:ln w="12700">
            <a:solidFill>
              <a:srgbClr val="EE63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208" y="428167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07039" y="3908603"/>
            <a:ext cx="1366937" cy="502920"/>
          </a:xfrm>
          <a:prstGeom prst="roundRect">
            <a:avLst/>
          </a:prstGeom>
          <a:solidFill>
            <a:srgbClr val="0D2B3F"/>
          </a:solidFill>
          <a:ln w="15875">
            <a:solidFill>
              <a:srgbClr val="19C1C7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07039" y="3972611"/>
            <a:ext cx="1366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(train/test)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69580" y="2903220"/>
            <a:ext cx="1020928" cy="1256843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0508" y="2903220"/>
            <a:ext cx="1020928" cy="1256843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0508" y="4160063"/>
            <a:ext cx="1020928" cy="1532077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9580" y="4160063"/>
            <a:ext cx="1020928" cy="1532077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0508" y="4160063"/>
            <a:ext cx="1020928" cy="235915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69580" y="4160063"/>
            <a:ext cx="1020928" cy="235915"/>
          </a:xfrm>
          <a:prstGeom prst="line">
            <a:avLst/>
          </a:prstGeom>
          <a:noFill/>
          <a:ln w="12700">
            <a:solidFill>
              <a:srgbClr val="173551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6172200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joins are aggregated by SK_ID_CURR with time-windowed statistics and missingness signals.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methodology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pipeline with quality gates, reproducibility, and clear artifacts at each stage.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11185855" cy="155448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106737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(numbered stages)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2642616"/>
            <a:ext cx="246888" cy="246888"/>
          </a:xfrm>
          <a:prstGeom prst="ellipse">
            <a:avLst/>
          </a:prstGeom>
          <a:solidFill>
            <a:srgbClr val="19C1C7"/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42562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0578" y="2642616"/>
            <a:ext cx="246888" cy="246888"/>
          </a:xfrm>
          <a:prstGeom prst="ellipse">
            <a:avLst/>
          </a:prstGeom>
          <a:solidFill>
            <a:srgbClr val="19C1C7"/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0578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1474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2164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90180" y="2642616"/>
            <a:ext cx="246888" cy="246888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0180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01076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81767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9783" y="2642616"/>
            <a:ext cx="246888" cy="246888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9783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20679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1369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9385" y="2642616"/>
            <a:ext cx="246888" cy="246888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9385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40281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20971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8987" y="2642616"/>
            <a:ext cx="246888" cy="246888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8987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59883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40573" y="2514600"/>
            <a:ext cx="1428162" cy="502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68589" y="2642616"/>
            <a:ext cx="246888" cy="246888"/>
          </a:xfrm>
          <a:prstGeom prst="ellipse">
            <a:avLst/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68589" y="2660904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379485" y="2651760"/>
            <a:ext cx="9160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3611880"/>
            <a:ext cx="5852160" cy="269748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3794760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controls &amp; quality gates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8952" y="4160520"/>
            <a:ext cx="534009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missingness checks and type-aware preprocessing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Leakage prevention via time-consistent aggregations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Cross-validation with out-of-fold probability calibration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 logging: metrics, plots, configs, and outputs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92240" y="3611880"/>
            <a:ext cx="5196535" cy="269748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379476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execution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66560" y="4160520"/>
            <a:ext cx="464789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4251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21040" y="4270248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4818888"/>
            <a:ext cx="464789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49103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21040" y="4928616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src.train --config configs/baseline.yaml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5477256"/>
            <a:ext cx="464789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55686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21040" y="5586984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src.export --out submission.csv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that matters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interpretable ratios and robust preprocessing rather than large blocks of 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5216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23160"/>
            <a:ext cx="534009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Type-aware imputation and scaling (numeric vs categorical)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Missingness indicators for systematically absent fields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aggregations across relational tables (time-windowed stats)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features to capture affordability and credit burden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196535" cy="26060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057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engineered ratios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2468880"/>
            <a:ext cx="2209648" cy="7315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578608"/>
            <a:ext cx="1880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credit_to_income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1152" y="2852928"/>
            <a:ext cx="1880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AMT_CREDIT / AMT_INCOME_TOTAL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04808" y="2468880"/>
            <a:ext cx="2209648" cy="7315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9400" y="2578608"/>
            <a:ext cx="1880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annuity_to_income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69400" y="2852928"/>
            <a:ext cx="1880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AMT_ANNUITY / AMT_INCOME_TOTAL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429000"/>
            <a:ext cx="2209648" cy="7315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538728"/>
            <a:ext cx="1880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goods_to_credit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3813048"/>
            <a:ext cx="1880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AMT_GOODS_PRICE / AMT_CREDIT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04808" y="3429000"/>
            <a:ext cx="2209648" cy="7315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69400" y="3538728"/>
            <a:ext cx="1880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income_per_person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69400" y="3813048"/>
            <a:ext cx="1880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AMT_INCOME_TOTAL / CNT_FAM_MEMBERS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663440"/>
            <a:ext cx="5196535" cy="1645920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4828032"/>
            <a:ext cx="4721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example: known anomaly fix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9984" y="5336180"/>
            <a:ext cx="4721047" cy="62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1" name="Image 0" descr="/mnt/data/python_ds_code_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5391044"/>
            <a:ext cx="4611319" cy="51075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drift mitigation &amp; calibration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dual-model strategy with evaluation artifacts and calibrated probabilities.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5216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strategy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6888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2743200"/>
            <a:ext cx="5340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iteration, interpretable coefficients, strong reference point for feature validation and stability checks.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338328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Gradient Boosting (e.g., LightGBM)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3657600"/>
            <a:ext cx="5340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interactions; used with early stopping and feature pruning. Outputs are calibrated to produce reliable probabilities.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" y="429768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4599432"/>
            <a:ext cx="53400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calibration (Platt / isotonic)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checks (PSI) between train and test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Explainability snapshots for stakeholder review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5196535" cy="288036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2057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diagnostics</a:t>
            </a:r>
            <a:endParaRPr lang="en-US" sz="1600" dirty="0"/>
          </a:p>
        </p:txBody>
      </p:sp>
      <p:pic>
        <p:nvPicPr>
          <p:cNvPr id="21" name="Image 0" descr="/mnt/data/python_ds_feature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423160"/>
            <a:ext cx="4556455" cy="21945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02920" y="5669280"/>
            <a:ext cx="11185855" cy="640080"/>
          </a:xfrm>
          <a:prstGeom prst="roundRect">
            <a:avLst/>
          </a:prstGeom>
          <a:solidFill>
            <a:srgbClr val="1D3B52">
              <a:alpha val="65000"/>
            </a:srgbClr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" y="5815584"/>
            <a:ext cx="106737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v1.2+ insight: combine drift monitoring with explainability snapshots to support deployment decisions.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outcomes &amp; artifacts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produces actionable outputs for both competition submission and production hardening.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5216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after a run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68880"/>
            <a:ext cx="534009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Submission-ready predictions (submission.csv)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metrics (CV AUC, calibration curves)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and explainability snapshots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comparison summary between train/test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 + run metadata for reproducibility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196535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057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montage (illustrative)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12280" y="2423160"/>
            <a:ext cx="4556455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7" name="Image 0" descr="/mnt/data/python_ds_artifacts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514600"/>
            <a:ext cx="4373575" cy="33832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12280" y="6053328"/>
            <a:ext cx="4556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• Feature importance • SHAP summary • Drift (PSI)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 w="12700">
            <a:solidFill>
              <a:srgbClr val="07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9682" y="0"/>
            <a:ext cx="7071183" cy="6858000"/>
          </a:xfrm>
          <a:prstGeom prst="parallelogram">
            <a:avLst/>
          </a:prstGeom>
          <a:solidFill>
            <a:srgbClr val="061021">
              <a:alpha val="85000"/>
            </a:srgbClr>
          </a:solidFill>
          <a:ln w="12700">
            <a:solidFill>
              <a:srgbClr val="06102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522" y="548640"/>
            <a:ext cx="3108960" cy="3108960"/>
          </a:xfrm>
          <a:prstGeom prst="ellipse">
            <a:avLst/>
          </a:prstGeom>
          <a:solidFill>
            <a:srgbClr val="19C1C7">
              <a:alpha val="15000"/>
            </a:srgbClr>
          </a:solidFill>
          <a:ln w="12700">
            <a:solidFill>
              <a:srgbClr val="19C1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187" y="1234440"/>
            <a:ext cx="1920240" cy="1920240"/>
          </a:xfrm>
          <a:prstGeom prst="ellipse">
            <a:avLst/>
          </a:prstGeom>
          <a:solidFill>
            <a:srgbClr val="59CD90">
              <a:alpha val="10000"/>
            </a:srgbClr>
          </a:solidFill>
          <a:ln w="12700">
            <a:solidFill>
              <a:srgbClr val="59CD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"/>
            <a:ext cx="731501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90353" y="73152"/>
            <a:ext cx="36575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6751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next steps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558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production-minded DS pipeline: stable features, calibrated probabilities, and auditable artifacts.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5852160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57400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468880"/>
            <a:ext cx="534009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Modularity reduces experimentation risk and makes workflows easier to test and tune.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ratio features + missingness signals provide strong baselines for credit risk.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Calibrated probabilities are essential for decision-making, not just leaderboard metrics.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+ explainability artifacts help validate whether a model remains trustworthy over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196535" cy="4434840"/>
          </a:xfrm>
          <a:prstGeom prst="roundRect">
            <a:avLst/>
          </a:prstGeom>
          <a:solidFill>
            <a:srgbClr val="0F243B">
              <a:alpha val="94000"/>
            </a:srgbClr>
          </a:solidFill>
          <a:ln w="12700">
            <a:solidFill>
              <a:srgbClr val="173551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057400"/>
            <a:ext cx="46844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roadmap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12280" y="2560320"/>
            <a:ext cx="455645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2706624"/>
            <a:ext cx="237744" cy="237744"/>
          </a:xfrm>
          <a:prstGeom prst="ellipse">
            <a:avLst/>
          </a:prstGeom>
          <a:solidFill>
            <a:srgbClr val="19C1C7"/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72491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697480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relational feature aggregation (time windows)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3218688"/>
            <a:ext cx="455645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76872" y="3364992"/>
            <a:ext cx="237744" cy="237744"/>
          </a:xfrm>
          <a:prstGeom prst="ellipse">
            <a:avLst/>
          </a:prstGeom>
          <a:solidFill>
            <a:srgbClr val="59CD90"/>
          </a:solidFill>
          <a:ln w="12700">
            <a:solidFill>
              <a:srgbClr val="59CD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338328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3355848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drift tests + alerts for production monitoring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877056"/>
            <a:ext cx="455645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76872" y="4023360"/>
            <a:ext cx="237744" cy="237744"/>
          </a:xfrm>
          <a:prstGeom prst="ellipse">
            <a:avLst/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404164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014216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reports and calibration plots as artifacts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4535424"/>
            <a:ext cx="455645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76872" y="4681728"/>
            <a:ext cx="237744" cy="237744"/>
          </a:xfrm>
          <a:prstGeom prst="ellipse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872" y="470001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4672584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CLI/project template (cookiecutter/uv)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5193792"/>
            <a:ext cx="4556455" cy="530352"/>
          </a:xfrm>
          <a:prstGeom prst="roundRect">
            <a:avLst/>
          </a:prstGeom>
          <a:solidFill>
            <a:srgbClr val="0B1C30"/>
          </a:solidFill>
          <a:ln w="12700">
            <a:solidFill>
              <a:srgbClr val="17355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76872" y="5340096"/>
            <a:ext cx="237744" cy="237744"/>
          </a:xfrm>
          <a:prstGeom prst="ellipse">
            <a:avLst/>
          </a:prstGeom>
          <a:solidFill>
            <a:srgbClr val="EE6352"/>
          </a:solidFill>
          <a:ln w="12700">
            <a:solidFill>
              <a:srgbClr val="EE63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535838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5330952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 tests and data contracts for ingestion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6355080"/>
            <a:ext cx="11185855" cy="384048"/>
          </a:xfrm>
          <a:prstGeom prst="roundRect">
            <a:avLst/>
          </a:prstGeom>
          <a:solidFill>
            <a:srgbClr val="19C1C7">
              <a:alpha val="88000"/>
            </a:srgbClr>
          </a:solidFill>
          <a:ln w="12700">
            <a:solidFill>
              <a:srgbClr val="19C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6419088"/>
            <a:ext cx="106737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reproducible, production-ready DS pipeline that balances performance, robustness, and explainability.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2026-01-23T02:50:02Z</dcterms:created>
  <dcterms:modified xsi:type="dcterms:W3CDTF">2026-01-23T02:50:02Z</dcterms:modified>
</cp:coreProperties>
</file>