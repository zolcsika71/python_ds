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8" d="100"/>
          <a:sy n="128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Drift %</c:v>
                </c:pt>
              </c:strCache>
            </c:strRef>
          </c:tx>
          <c:spPr>
            <a:solidFill>
              <a:srgbClr val="60A5FA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FLAG_EMAIL</c:v>
                </c:pt>
                <c:pt idx="1">
                  <c:v>REG_REGION_NOT_LIVE_REGION</c:v>
                </c:pt>
                <c:pt idx="2">
                  <c:v>AMT_CREDIT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187</c:v>
                </c:pt>
                <c:pt idx="1">
                  <c:v>24</c:v>
                </c:pt>
                <c:pt idx="2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F56-E548-ADFF-BFC7FFAECA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FC3D8"/>
                </a:solidFill>
                <a:latin typeface="Arial"/>
              </a:defRPr>
            </a:pPr>
            <a:endParaRPr lang="en-H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FC3D8"/>
                </a:solidFill>
                <a:latin typeface="Arial"/>
              </a:defRPr>
            </a:pPr>
            <a:endParaRPr lang="en-HU"/>
          </a:p>
        </c:txPr>
        <c:crossAx val="2094734554"/>
        <c:crosses val="autoZero"/>
        <c:crossBetween val="between"/>
      </c:valAx>
      <c:spPr>
        <a:solidFill>
          <a:srgbClr val="FFFFFF"/>
        </a:solidFill>
        <a:ln w="12700" cap="flat">
          <a:solidFill>
            <a:srgbClr val="2B5D86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Logloss</c:v>
                </c:pt>
              </c:strCache>
            </c:strRef>
          </c:tx>
          <c:spPr>
            <a:ln w="25400" cap="flat">
              <a:solidFill>
                <a:srgbClr val="2DD4B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DD4BF"/>
              </a:solidFill>
              <a:ln w="9525" cap="flat">
                <a:solidFill>
                  <a:srgbClr val="2DD4BF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0</c:v>
                </c:pt>
                <c:pt idx="1">
                  <c:v>25</c:v>
                </c:pt>
                <c:pt idx="2">
                  <c:v>50</c:v>
                </c:pt>
                <c:pt idx="3">
                  <c:v>75</c:v>
                </c:pt>
                <c:pt idx="4">
                  <c:v>100</c:v>
                </c:pt>
                <c:pt idx="5">
                  <c:v>125</c:v>
                </c:pt>
                <c:pt idx="6">
                  <c:v>150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0.64336355040000004</c:v>
                </c:pt>
                <c:pt idx="1">
                  <c:v>0.27766265070000001</c:v>
                </c:pt>
                <c:pt idx="2">
                  <c:v>0.25267922009999999</c:v>
                </c:pt>
                <c:pt idx="3">
                  <c:v>0.2466751173</c:v>
                </c:pt>
                <c:pt idx="4">
                  <c:v>0.24344670600000001</c:v>
                </c:pt>
                <c:pt idx="5">
                  <c:v>0.2410349326</c:v>
                </c:pt>
                <c:pt idx="6">
                  <c:v>0.23922895659999999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1E7-E543-AE4F-D14A67EB86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FC3D8"/>
                </a:solidFill>
                <a:latin typeface="Arial"/>
              </a:defRPr>
            </a:pPr>
            <a:endParaRPr lang="en-H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FC3D8"/>
                </a:solidFill>
                <a:latin typeface="Arial"/>
              </a:defRPr>
            </a:pPr>
            <a:endParaRPr lang="en-HU"/>
          </a:p>
        </c:txPr>
        <c:crossAx val="2094734554"/>
        <c:crosses val="autoZero"/>
        <c:crossBetween val="between"/>
      </c:valAx>
      <c:spPr>
        <a:solidFill>
          <a:srgbClr val="FFFFFF"/>
        </a:solidFill>
        <a:ln w="12700" cap="flat">
          <a:solidFill>
            <a:srgbClr val="2B5D86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44010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Sources]
- https://www.python.org/community/logos/ (Python logo)
- https://www.kaggle.com/c/home-credit-default-risk (problem context)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Sources]
- https://www.kaggle.com/c/home-credit-default-risk (competition objective &amp; ROC-AUC)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Sources]
- https://www.kaggle.com/c/home-credit-default-risk/data (dataset tables)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Sources]
- https://scikit-learn.org/stable/modules/generated/sklearn.model_selection.StratifiedKFold.html (CV strategy)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Sources]
- https://scikit-learn.org/stable/modules/generated/sklearn.compose.ColumnTransformer.html (ColumnTransformer)
- https://scikit-learn.org/stable/modules/generated/sklearn.ensemble.StackingClassifier.html (Stacking)
- https://scikit-learn.org/stable/modules/generated/sklearn.calibration.CalibratedClassifierCV.html (Calibration)
- https://shap.readthedocs.io/en/latest/generated/shap.TreeExplainer.html (SHAP TreeExplainer)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Sources]
- https://www.kaggle.com/c/home-credit-default-risk (train vs test distribution drift is common in competition settings)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Sources]
- https://scikit-learn.org/stable/modules/generated/sklearn.ensemble.StackingClassifier.html (stacked generalization)
- https://scikit-learn.org/stable/modules/generated/sklearn.calibration.CalibratedClassifierCV.html (sigmoid calibration)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Sources]
- https://www.kaggle.com/c/home-credit-default-risk (metric and competition framing)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Sources]
- https://www.kaggle.com/c/home-credit-default-risk (submission format expectation)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Sources]
- https://www.kaggle.com/c/home-credit-default-risk (problem framing)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4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>
              <a:alpha val="35000"/>
            </a:srgbClr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/mnt/data/assets/python-logo-on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228600"/>
            <a:ext cx="1097280" cy="13258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1005840"/>
            <a:ext cx="9692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Python_DS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731520" y="1920240"/>
            <a:ext cx="8869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Credit Default Risk — competition-grade ML pipeline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777240" y="4160520"/>
            <a:ext cx="1911096" cy="384048"/>
          </a:xfrm>
          <a:prstGeom prst="roundRect">
            <a:avLst/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822960" y="4215384"/>
            <a:ext cx="1819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714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852928" y="4160520"/>
            <a:ext cx="1801368" cy="384048"/>
          </a:xfrm>
          <a:prstGeom prst="roundRect">
            <a:avLst/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2898648" y="4215384"/>
            <a:ext cx="1709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714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Drift-aware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818888" y="4160520"/>
            <a:ext cx="1801368" cy="384048"/>
          </a:xfrm>
          <a:prstGeom prst="roundRect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4864608" y="4215384"/>
            <a:ext cx="1709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714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784848" y="4160520"/>
            <a:ext cx="1911096" cy="384048"/>
          </a:xfrm>
          <a:prstGeom prst="round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6830568" y="4215384"/>
            <a:ext cx="1819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714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Kaggle-ready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178040" y="4773168"/>
            <a:ext cx="4480560" cy="1737360"/>
          </a:xfrm>
          <a:prstGeom prst="roundRect">
            <a:avLst/>
          </a:prstGeom>
          <a:solidFill>
            <a:srgbClr val="0E2A47">
              <a:alpha val="90000"/>
            </a:srgbClr>
          </a:solidFill>
          <a:ln w="12700">
            <a:solidFill>
              <a:srgbClr val="1C4C72">
                <a:alpha val="65000"/>
              </a:srgbClr>
            </a:solidFill>
            <a:prstDash val="solid"/>
          </a:ln>
          <a:effectLst>
            <a:outerShdw blurRad="50800" dist="254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7680960" y="4873752"/>
            <a:ext cx="38404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lifecycle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7635240" y="5120640"/>
            <a:ext cx="1920240" cy="310896"/>
          </a:xfrm>
          <a:prstGeom prst="roundRect">
            <a:avLst/>
          </a:prstGeom>
          <a:solidFill>
            <a:srgbClr val="0B2138">
              <a:alpha val="88000"/>
            </a:srgbClr>
          </a:solidFill>
          <a:ln w="12700">
            <a:solidFill>
              <a:srgbClr val="1C4C72">
                <a:alpha val="4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7690104" y="5148072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9875520" y="5120640"/>
            <a:ext cx="1645920" cy="310896"/>
          </a:xfrm>
          <a:prstGeom prst="roundRect">
            <a:avLst/>
          </a:prstGeom>
          <a:solidFill>
            <a:srgbClr val="0B2138">
              <a:alpha val="88000"/>
            </a:srgbClr>
          </a:solidFill>
          <a:ln w="12700">
            <a:solidFill>
              <a:srgbClr val="1C4C72">
                <a:alpha val="4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6"/>
          <p:cNvSpPr/>
          <p:nvPr/>
        </p:nvSpPr>
        <p:spPr>
          <a:xfrm>
            <a:off x="9930384" y="5148072"/>
            <a:ext cx="1591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7635240" y="5559552"/>
            <a:ext cx="1920240" cy="310896"/>
          </a:xfrm>
          <a:prstGeom prst="roundRect">
            <a:avLst/>
          </a:prstGeom>
          <a:solidFill>
            <a:srgbClr val="0B2138">
              <a:alpha val="88000"/>
            </a:srgbClr>
          </a:solidFill>
          <a:ln w="12700">
            <a:solidFill>
              <a:srgbClr val="1C4C72">
                <a:alpha val="4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8"/>
          <p:cNvSpPr/>
          <p:nvPr/>
        </p:nvSpPr>
        <p:spPr>
          <a:xfrm>
            <a:off x="7690104" y="5586984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9875520" y="5559552"/>
            <a:ext cx="1645920" cy="310896"/>
          </a:xfrm>
          <a:prstGeom prst="roundRect">
            <a:avLst/>
          </a:prstGeom>
          <a:solidFill>
            <a:srgbClr val="0B2138">
              <a:alpha val="88000"/>
            </a:srgbClr>
          </a:solidFill>
          <a:ln w="12700">
            <a:solidFill>
              <a:srgbClr val="1C4C72">
                <a:alpha val="4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0"/>
          <p:cNvSpPr/>
          <p:nvPr/>
        </p:nvSpPr>
        <p:spPr>
          <a:xfrm>
            <a:off x="9930384" y="5586984"/>
            <a:ext cx="1591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7635240" y="5998464"/>
            <a:ext cx="1920240" cy="310896"/>
          </a:xfrm>
          <a:prstGeom prst="roundRect">
            <a:avLst/>
          </a:prstGeom>
          <a:solidFill>
            <a:srgbClr val="0B2138">
              <a:alpha val="88000"/>
            </a:srgbClr>
          </a:solidFill>
          <a:ln w="12700">
            <a:solidFill>
              <a:srgbClr val="1C4C72">
                <a:alpha val="4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7690104" y="6025896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9875520" y="5998464"/>
            <a:ext cx="1645920" cy="310896"/>
          </a:xfrm>
          <a:prstGeom prst="roundRect">
            <a:avLst/>
          </a:prstGeom>
          <a:solidFill>
            <a:srgbClr val="0B2138">
              <a:alpha val="88000"/>
            </a:srgbClr>
          </a:solidFill>
          <a:ln w="12700">
            <a:solidFill>
              <a:srgbClr val="1C4C72">
                <a:alpha val="4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4"/>
          <p:cNvSpPr/>
          <p:nvPr/>
        </p:nvSpPr>
        <p:spPr>
          <a:xfrm>
            <a:off x="9930384" y="6025896"/>
            <a:ext cx="1591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685800" y="6565392"/>
            <a:ext cx="6583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A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github.com/zolcsika71/Python_DS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4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>
              <a:alpha val="35000"/>
            </a:srgbClr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Python_DS • Home Credit Default Risk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595360" y="16459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6565392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A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github.com/zolcsika71/Python_DS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13232" y="15087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reproducible pipeline for probability-of-default prediction on tabular credit-risk data.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85800" y="2103120"/>
            <a:ext cx="5577840" cy="4114800"/>
          </a:xfrm>
          <a:prstGeom prst="roundRect">
            <a:avLst/>
          </a:prstGeom>
          <a:solidFill>
            <a:srgbClr val="0E2A47">
              <a:alpha val="88000"/>
            </a:srgbClr>
          </a:solidFill>
          <a:ln w="12700">
            <a:solidFill>
              <a:srgbClr val="1C4C72">
                <a:alpha val="65000"/>
              </a:srgbClr>
            </a:solidFill>
            <a:prstDash val="solid"/>
          </a:ln>
          <a:effectLst>
            <a:outerShdw blurRad="50800" dist="254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1005840" y="2359152"/>
            <a:ext cx="4937759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project delivers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05840" y="2862072"/>
            <a:ext cx="4937759" cy="3127248"/>
          </a:xfrm>
          <a:prstGeom prst="rect">
            <a:avLst/>
          </a:prstGeom>
          <a:noFill/>
          <a:ln/>
        </p:spPr>
        <p:txBody>
          <a:bodyPr wrap="square" rtlCol="0" anchor="t">
            <a:noAutofit/>
          </a:bodyPr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automation from raw CSVs → submission-ready predictions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feature engineering across relational tables (bureau, prior apps, balances)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Informed drift mitigation (drift + importance gated feature pruning)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hooks (feature importance + SHAP summary) for review &amp; audit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355080" y="2103120"/>
            <a:ext cx="5148072" cy="2331720"/>
          </a:xfrm>
          <a:prstGeom prst="roundRect">
            <a:avLst/>
          </a:prstGeom>
          <a:solidFill>
            <a:srgbClr val="0E2A47">
              <a:alpha val="88000"/>
            </a:srgbClr>
          </a:solidFill>
          <a:ln w="12700">
            <a:solidFill>
              <a:srgbClr val="1C4C72">
                <a:alpha val="65000"/>
              </a:srgbClr>
            </a:solidFill>
            <a:prstDash val="solid"/>
          </a:ln>
          <a:effectLst>
            <a:outerShdw blurRad="50800" dist="254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675120" y="2359152"/>
            <a:ext cx="45079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measure success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675120" y="2862072"/>
            <a:ext cx="4507992" cy="1344167"/>
          </a:xfrm>
          <a:prstGeom prst="rect">
            <a:avLst/>
          </a:prstGeom>
          <a:noFill/>
          <a:ln/>
        </p:spPr>
        <p:txBody>
          <a:bodyPr wrap="square" rtlCol="0" anchor="t">
            <a:noAutofit/>
          </a:bodyPr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for model selection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probabilities (sigmoid / Platt)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runs + clear artifacts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355080" y="4617720"/>
            <a:ext cx="5148072" cy="1600200"/>
          </a:xfrm>
          <a:prstGeom prst="roundRect">
            <a:avLst/>
          </a:prstGeom>
          <a:solidFill>
            <a:srgbClr val="0B2138">
              <a:alpha val="92000"/>
            </a:srgbClr>
          </a:solidFill>
          <a:ln w="12700">
            <a:solidFill>
              <a:srgbClr val="1C4C72">
                <a:alpha val="65000"/>
              </a:srgbClr>
            </a:solidFill>
            <a:prstDash val="solid"/>
          </a:ln>
          <a:effectLst>
            <a:outerShdw blurRad="50800" dist="254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675120" y="4873752"/>
            <a:ext cx="45079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start (CLI)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675120" y="5376672"/>
            <a:ext cx="4507992" cy="612647"/>
          </a:xfrm>
          <a:prstGeom prst="rect">
            <a:avLst/>
          </a:prstGeom>
          <a:noFill/>
          <a:ln/>
        </p:spPr>
        <p:txBody>
          <a:bodyPr wrap="square" rtlCol="0" anchor="t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AF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poetry install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AF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poetry run python main.py --prefer-lightgbm --folds 5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AF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poetry run python src/top_10_analysis.py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4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>
              <a:alpha val="35000"/>
            </a:srgbClr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Python_DS • Home Credit Default Risk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595360" y="16459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data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6565392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A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github.com/zolcsika71/Python_DS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framing &amp; inputs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13232" y="15087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default probability per applicant by joining multiple relational tables into a unified feature store.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85800" y="2057400"/>
            <a:ext cx="5623560" cy="4434840"/>
          </a:xfrm>
          <a:prstGeom prst="roundRect">
            <a:avLst/>
          </a:prstGeom>
          <a:solidFill>
            <a:srgbClr val="0E2A47">
              <a:alpha val="88000"/>
            </a:srgbClr>
          </a:solidFill>
          <a:ln w="12700">
            <a:solidFill>
              <a:srgbClr val="1C4C72">
                <a:alpha val="65000"/>
              </a:srgbClr>
            </a:solidFill>
            <a:prstDash val="solid"/>
          </a:ln>
          <a:effectLst>
            <a:outerShdw blurRad="50800" dist="254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1005840" y="233172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framing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05840" y="2743200"/>
            <a:ext cx="4983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estimate repayment difficulty (TARGET=1) using current application metadata plus behavioral history (bureau, previous apps, POS/cash, installments, card balance).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3977639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requirements (minimal)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4389120"/>
            <a:ext cx="4983480" cy="1874519"/>
          </a:xfrm>
          <a:prstGeom prst="rect">
            <a:avLst/>
          </a:prstGeom>
          <a:noFill/>
          <a:ln/>
        </p:spPr>
        <p:txBody>
          <a:bodyPr wrap="square" rtlCol="0" anchor="t">
            <a:noAutofit/>
          </a:bodyPr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application_train / application_test (primary index: SK_ID_CURR)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 + bureau_balance (external credit history)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previous_application (prior decisions &amp; offers)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installments_payments, POS_CASH_balance, credit_card_balance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35488" y="1892808"/>
            <a:ext cx="4983480" cy="4599432"/>
          </a:xfrm>
          <a:prstGeom prst="roundRect">
            <a:avLst/>
          </a:prstGeom>
          <a:solidFill>
            <a:srgbClr val="0E2A47">
              <a:alpha val="88000"/>
            </a:srgbClr>
          </a:solidFill>
          <a:ln w="12700">
            <a:solidFill>
              <a:srgbClr val="1C4C72">
                <a:alpha val="65000"/>
              </a:srgbClr>
            </a:solidFill>
            <a:prstDash val="solid"/>
          </a:ln>
          <a:effectLst>
            <a:outerShdw blurRad="50800" dist="254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858000" y="233172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inputs → feature store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903720" y="2880360"/>
            <a:ext cx="2240280" cy="475488"/>
          </a:xfrm>
          <a:prstGeom prst="roundRect">
            <a:avLst/>
          </a:prstGeom>
          <a:solidFill>
            <a:srgbClr val="0B2138">
              <a:alpha val="92000"/>
            </a:srgbClr>
          </a:solidFill>
          <a:ln w="25400">
            <a:solidFill>
              <a:srgbClr val="34D399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7040880" y="3035808"/>
            <a:ext cx="164592" cy="16459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7269480" y="29992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44000" y="2880360"/>
            <a:ext cx="2240280" cy="475488"/>
          </a:xfrm>
          <a:prstGeom prst="roundRect">
            <a:avLst/>
          </a:prstGeom>
          <a:solidFill>
            <a:srgbClr val="0B2138">
              <a:alpha val="92000"/>
            </a:srgbClr>
          </a:solidFill>
          <a:ln w="25400">
            <a:solidFill>
              <a:srgbClr val="34D399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9281160" y="3035808"/>
            <a:ext cx="164592" cy="16459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9509760" y="29992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bureau_balance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903720" y="3703320"/>
            <a:ext cx="2240280" cy="475488"/>
          </a:xfrm>
          <a:prstGeom prst="roundRect">
            <a:avLst/>
          </a:prstGeom>
          <a:solidFill>
            <a:srgbClr val="0B2138">
              <a:alpha val="92000"/>
            </a:srgbClr>
          </a:solidFill>
          <a:ln w="25400">
            <a:solidFill>
              <a:srgbClr val="FB7185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7040880" y="3858768"/>
            <a:ext cx="164592" cy="164592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7269480" y="38221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previous_application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144000" y="3703320"/>
            <a:ext cx="2240280" cy="475488"/>
          </a:xfrm>
          <a:prstGeom prst="roundRect">
            <a:avLst/>
          </a:prstGeom>
          <a:solidFill>
            <a:srgbClr val="0B2138">
              <a:alpha val="92000"/>
            </a:srgbClr>
          </a:solidFill>
          <a:ln w="25400">
            <a:solidFill>
              <a:srgbClr val="A78BFA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9281160" y="3858768"/>
            <a:ext cx="164592" cy="16459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9509760" y="38221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POS_CASH_balance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903720" y="4370832"/>
            <a:ext cx="2240280" cy="475488"/>
          </a:xfrm>
          <a:prstGeom prst="roundRect">
            <a:avLst/>
          </a:prstGeom>
          <a:solidFill>
            <a:srgbClr val="0B2138">
              <a:alpha val="92000"/>
            </a:srgbClr>
          </a:solidFill>
          <a:ln w="25400">
            <a:solidFill>
              <a:srgbClr val="FBBF24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7018914" y="4526280"/>
            <a:ext cx="164592" cy="16459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7145042" y="444855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installments_payments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9270128" y="4347972"/>
            <a:ext cx="2240280" cy="475488"/>
          </a:xfrm>
          <a:prstGeom prst="roundRect">
            <a:avLst/>
          </a:prstGeom>
          <a:solidFill>
            <a:srgbClr val="0B2138">
              <a:alpha val="92000"/>
            </a:srgbClr>
          </a:solidFill>
          <a:ln w="25400">
            <a:solidFill>
              <a:srgbClr val="FBBF24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9393969" y="4526280"/>
            <a:ext cx="164592" cy="16459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9659542" y="448741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credit_card_balance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053602" y="5038344"/>
            <a:ext cx="4023360" cy="420624"/>
          </a:xfrm>
          <a:prstGeom prst="roundRect">
            <a:avLst/>
          </a:prstGeom>
          <a:solidFill>
            <a:srgbClr val="0B2138"/>
          </a:solidFill>
          <a:ln w="25400">
            <a:solidFill>
              <a:srgbClr val="2DD4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7205472" y="516139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key: SK_ID_CURR (application_* as the anchor table)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846968" y="573308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A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joins are aggregated by SK_ID_CURR with time-windowed stats + missingness signals.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4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>
              <a:alpha val="35000"/>
            </a:srgbClr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Python_DS • Home Credit Default Risk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595360" y="16459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6565392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A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github.com/zolcsika71/Python_DS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methodology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13232" y="15087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modular pipeline with quality gates, reproducibility, and clear artifacts at each stage.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85800" y="2057400"/>
            <a:ext cx="10835640" cy="1463040"/>
          </a:xfrm>
          <a:prstGeom prst="roundRect">
            <a:avLst/>
          </a:prstGeom>
          <a:solidFill>
            <a:srgbClr val="0E2A47">
              <a:alpha val="90000"/>
            </a:srgbClr>
          </a:solidFill>
          <a:ln w="12700">
            <a:solidFill>
              <a:srgbClr val="1C4C72">
                <a:alpha val="65000"/>
              </a:srgbClr>
            </a:solidFill>
            <a:prstDash val="solid"/>
          </a:ln>
          <a:effectLst>
            <a:outerShdw blurRad="50800" dist="254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1005840" y="230428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(numbered stages)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960120" y="2697480"/>
            <a:ext cx="1170432" cy="566928"/>
          </a:xfrm>
          <a:prstGeom prst="roundRect">
            <a:avLst/>
          </a:prstGeom>
          <a:solidFill>
            <a:srgbClr val="0B2138">
              <a:alpha val="92000"/>
            </a:srgbClr>
          </a:solidFill>
          <a:ln w="12700">
            <a:solidFill>
              <a:srgbClr val="1C4C72">
                <a:alpha val="4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1051560" y="2834640"/>
            <a:ext cx="292608" cy="29260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1060704" y="2834640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714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44168" y="2862072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240280" y="2697480"/>
            <a:ext cx="1170432" cy="566928"/>
          </a:xfrm>
          <a:prstGeom prst="roundRect">
            <a:avLst/>
          </a:prstGeom>
          <a:solidFill>
            <a:srgbClr val="0B2138">
              <a:alpha val="92000"/>
            </a:srgbClr>
          </a:solidFill>
          <a:ln w="12700">
            <a:solidFill>
              <a:srgbClr val="1C4C72">
                <a:alpha val="4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2331720" y="2834640"/>
            <a:ext cx="292608" cy="29260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2340864" y="2834640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714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24328" y="2862072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520440" y="2697480"/>
            <a:ext cx="1170432" cy="566928"/>
          </a:xfrm>
          <a:prstGeom prst="roundRect">
            <a:avLst/>
          </a:prstGeom>
          <a:solidFill>
            <a:srgbClr val="0B2138">
              <a:alpha val="92000"/>
            </a:srgbClr>
          </a:solidFill>
          <a:ln w="12700">
            <a:solidFill>
              <a:srgbClr val="1C4C72">
                <a:alpha val="4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3611880" y="2834640"/>
            <a:ext cx="292608" cy="29260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3621024" y="2834640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714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904488" y="2862072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00600" y="2697480"/>
            <a:ext cx="1170432" cy="566928"/>
          </a:xfrm>
          <a:prstGeom prst="roundRect">
            <a:avLst/>
          </a:prstGeom>
          <a:solidFill>
            <a:srgbClr val="0B2138">
              <a:alpha val="92000"/>
            </a:srgbClr>
          </a:solidFill>
          <a:ln w="12700">
            <a:solidFill>
              <a:srgbClr val="1C4C72">
                <a:alpha val="4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4892040" y="2834640"/>
            <a:ext cx="292608" cy="29260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4901184" y="2834640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714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184648" y="2862072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080760" y="2697480"/>
            <a:ext cx="1170432" cy="566928"/>
          </a:xfrm>
          <a:prstGeom prst="roundRect">
            <a:avLst/>
          </a:prstGeom>
          <a:solidFill>
            <a:srgbClr val="0B2138">
              <a:alpha val="92000"/>
            </a:srgbClr>
          </a:solidFill>
          <a:ln w="12700">
            <a:solidFill>
              <a:srgbClr val="1C4C72">
                <a:alpha val="4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6172200" y="2834640"/>
            <a:ext cx="292608" cy="29260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6181344" y="2834640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714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64808" y="2862072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360920" y="2697480"/>
            <a:ext cx="1170432" cy="566928"/>
          </a:xfrm>
          <a:prstGeom prst="roundRect">
            <a:avLst/>
          </a:prstGeom>
          <a:solidFill>
            <a:srgbClr val="0B2138">
              <a:alpha val="92000"/>
            </a:srgbClr>
          </a:solidFill>
          <a:ln w="12700">
            <a:solidFill>
              <a:srgbClr val="1C4C72">
                <a:alpha val="4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7452360" y="2834640"/>
            <a:ext cx="292608" cy="292608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7461504" y="2834640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714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744968" y="2862072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641080" y="2697480"/>
            <a:ext cx="1170432" cy="566928"/>
          </a:xfrm>
          <a:prstGeom prst="roundRect">
            <a:avLst/>
          </a:prstGeom>
          <a:solidFill>
            <a:srgbClr val="0B2138">
              <a:alpha val="92000"/>
            </a:srgbClr>
          </a:solidFill>
          <a:ln w="12700">
            <a:solidFill>
              <a:srgbClr val="1C4C72">
                <a:alpha val="4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8732520" y="2834640"/>
            <a:ext cx="292608" cy="29260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8741664" y="2834640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714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025128" y="2862072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9921240" y="2697480"/>
            <a:ext cx="1170432" cy="566928"/>
          </a:xfrm>
          <a:prstGeom prst="roundRect">
            <a:avLst/>
          </a:prstGeom>
          <a:solidFill>
            <a:srgbClr val="0B2138">
              <a:alpha val="92000"/>
            </a:srgbClr>
          </a:solidFill>
          <a:ln w="12700">
            <a:solidFill>
              <a:srgbClr val="1C4C72">
                <a:alpha val="4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Shape 37"/>
          <p:cNvSpPr/>
          <p:nvPr/>
        </p:nvSpPr>
        <p:spPr>
          <a:xfrm>
            <a:off x="10012680" y="2834640"/>
            <a:ext cx="292608" cy="29260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10021824" y="2834640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714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0305288" y="2862072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85800" y="3611879"/>
            <a:ext cx="5669280" cy="2834640"/>
          </a:xfrm>
          <a:prstGeom prst="roundRect">
            <a:avLst/>
          </a:prstGeom>
          <a:solidFill>
            <a:srgbClr val="0E2A47">
              <a:alpha val="88000"/>
            </a:srgbClr>
          </a:solidFill>
          <a:ln w="12700">
            <a:solidFill>
              <a:srgbClr val="1C4C72">
                <a:alpha val="65000"/>
              </a:srgbClr>
            </a:solidFill>
            <a:prstDash val="solid"/>
          </a:ln>
          <a:effectLst>
            <a:outerShdw blurRad="50800" dist="254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1005840" y="3867911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controls &amp; quality gates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1005840" y="4370831"/>
            <a:ext cx="5029200" cy="1847087"/>
          </a:xfrm>
          <a:prstGeom prst="rect">
            <a:avLst/>
          </a:prstGeom>
          <a:noFill/>
          <a:ln/>
        </p:spPr>
        <p:txBody>
          <a:bodyPr wrap="square" rtlCol="0" anchor="t">
            <a:noAutofit/>
          </a:bodyPr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Type-aware preprocessing (numeric vs categorical) with consistent feature names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prevention via aggregated relational joins (per SK_ID_CURR)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 (StratifiedKFold) for robust ROC-AUC estimates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 logging: metrics, plots, configs, and outputs for auditability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537960" y="3611879"/>
            <a:ext cx="4983480" cy="2834640"/>
          </a:xfrm>
          <a:prstGeom prst="roundRect">
            <a:avLst/>
          </a:prstGeom>
          <a:solidFill>
            <a:srgbClr val="0B2138">
              <a:alpha val="92000"/>
            </a:srgbClr>
          </a:solidFill>
          <a:ln w="12700">
            <a:solidFill>
              <a:srgbClr val="1C4C72">
                <a:alpha val="65000"/>
              </a:srgbClr>
            </a:solidFill>
            <a:prstDash val="solid"/>
          </a:ln>
          <a:effectLst>
            <a:outerShdw blurRad="50800" dist="254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6858000" y="3867911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execution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858000" y="4370831"/>
            <a:ext cx="4343400" cy="1847087"/>
          </a:xfrm>
          <a:prstGeom prst="rect">
            <a:avLst/>
          </a:prstGeom>
          <a:noFill/>
          <a:ln/>
        </p:spPr>
        <p:txBody>
          <a:bodyPr wrap="square" rtlCol="0" anchor="t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AF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Run tests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AF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poetry run pytest -q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AF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Train + export submission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AF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poetry run python main.py --prefer-lightgbm --folds 5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AF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Outputs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AF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plots/*.png  submissions/submission_*.csv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4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>
              <a:alpha val="35000"/>
            </a:srgbClr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Python_DS • Home Credit Default Risk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595360" y="16459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6565392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A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github.com/zolcsika71/Python_DS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techniques &amp; libraries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13232" y="15087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Sklearn-first design: composable preprocessing, model selection, and explainability.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85800" y="2057400"/>
            <a:ext cx="5623560" cy="2176272"/>
          </a:xfrm>
          <a:prstGeom prst="roundRect">
            <a:avLst/>
          </a:prstGeom>
          <a:solidFill>
            <a:srgbClr val="0E2A47">
              <a:alpha val="90000"/>
            </a:srgbClr>
          </a:solidFill>
          <a:ln w="12700">
            <a:solidFill>
              <a:srgbClr val="1C4C72">
                <a:alpha val="65000"/>
              </a:srgbClr>
            </a:solidFill>
            <a:prstDash val="solid"/>
          </a:ln>
          <a:effectLst>
            <a:outerShdw blurRad="50800" dist="254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960120" y="2377439"/>
            <a:ext cx="45720" cy="1755649"/>
          </a:xfrm>
          <a:prstGeom prst="roundRect">
            <a:avLst/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005840" y="2313432"/>
            <a:ext cx="4983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05840" y="2816352"/>
            <a:ext cx="4983480" cy="11887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+ NumPy for tabular joins and feature creation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ProcessPoolExecutor for parallel aggregation of relational tables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Memory-optimized CSV loading with dtype downcasting (float32/int32)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537960" y="2057400"/>
            <a:ext cx="5623560" cy="2176272"/>
          </a:xfrm>
          <a:prstGeom prst="roundRect">
            <a:avLst/>
          </a:prstGeom>
          <a:solidFill>
            <a:srgbClr val="0E2A47">
              <a:alpha val="90000"/>
            </a:srgbClr>
          </a:solidFill>
          <a:ln w="12700">
            <a:solidFill>
              <a:srgbClr val="1C4C72">
                <a:alpha val="65000"/>
              </a:srgbClr>
            </a:solidFill>
            <a:prstDash val="solid"/>
          </a:ln>
          <a:effectLst>
            <a:outerShdw blurRad="50800" dist="254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6812280" y="2377440"/>
            <a:ext cx="73152" cy="1536192"/>
          </a:xfrm>
          <a:prstGeom prst="roundRect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858000" y="2313432"/>
            <a:ext cx="4983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858000" y="2816352"/>
            <a:ext cx="4983480" cy="11887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ColumnTransformer splits numeric vs categorical features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Imputation + scaling (SimpleImputer, StandardScaler)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encoding when available; otherwise OneHotEncoder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85800" y="4462272"/>
            <a:ext cx="5623560" cy="1993392"/>
          </a:xfrm>
          <a:prstGeom prst="roundRect">
            <a:avLst/>
          </a:prstGeom>
          <a:solidFill>
            <a:srgbClr val="0E2A47">
              <a:alpha val="90000"/>
            </a:srgbClr>
          </a:solidFill>
          <a:ln w="12700">
            <a:solidFill>
              <a:srgbClr val="1C4C72">
                <a:alpha val="65000"/>
              </a:srgbClr>
            </a:solidFill>
            <a:prstDash val="solid"/>
          </a:ln>
          <a:effectLst>
            <a:outerShdw blurRad="50800" dist="254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960120" y="4782311"/>
            <a:ext cx="45720" cy="1554479"/>
          </a:xfrm>
          <a:prstGeom prst="roundRect">
            <a:avLst/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1005840" y="4718304"/>
            <a:ext cx="4983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05840" y="5221224"/>
            <a:ext cx="4983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baseline with optional early stopping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 stack: LightGBM + XGBoost + CatBoost → Logistic meta-learner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isolation to prevent nested-parallelism deadlocks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537960" y="4462272"/>
            <a:ext cx="5623560" cy="1993392"/>
          </a:xfrm>
          <a:prstGeom prst="roundRect">
            <a:avLst/>
          </a:prstGeom>
          <a:solidFill>
            <a:srgbClr val="0E2A47">
              <a:alpha val="90000"/>
            </a:srgbClr>
          </a:solidFill>
          <a:ln w="12700">
            <a:solidFill>
              <a:srgbClr val="1C4C72">
                <a:alpha val="65000"/>
              </a:srgbClr>
            </a:solidFill>
            <a:prstDash val="solid"/>
          </a:ln>
          <a:effectLst>
            <a:outerShdw blurRad="50800" dist="254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6812280" y="4782312"/>
            <a:ext cx="45720" cy="1554478"/>
          </a:xfrm>
          <a:prstGeom prst="round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6858000" y="4718304"/>
            <a:ext cx="4983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&amp; explainability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858000" y="5221224"/>
            <a:ext cx="4983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CalibratedClassifierCV (sigmoid/Platt scaling) for usable probabilities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&amp; diagnostics: SHAP TreeExplainer + ROC/importance plots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4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>
              <a:alpha val="35000"/>
            </a:srgbClr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Python_DS • Home Credit Default Risk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595360" y="16459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mitigation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6565392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A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github.com/zolcsika71/Python_DS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Informed drift mitigation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13232" y="15087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drifted features only when they are also low-importance — preserve signal, remove noise.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85800" y="2057400"/>
            <a:ext cx="5623560" cy="4434840"/>
          </a:xfrm>
          <a:prstGeom prst="roundRect">
            <a:avLst/>
          </a:prstGeom>
          <a:solidFill>
            <a:srgbClr val="0E2A47">
              <a:alpha val="88000"/>
            </a:srgbClr>
          </a:solidFill>
          <a:ln w="12700">
            <a:solidFill>
              <a:srgbClr val="1C4C72">
                <a:alpha val="65000"/>
              </a:srgbClr>
            </a:solidFill>
            <a:prstDash val="solid"/>
          </a:ln>
          <a:effectLst>
            <a:outerShdw blurRad="50800" dist="254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1005840" y="233172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filter (drift + importance gate)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05840" y="2743200"/>
            <a:ext cx="49834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Detect drift via relative mean difference between train vs test (threshold ≈ 10%).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Run a fast “pilot” model to estimate feature importance.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Drop a feature only if: (drifted) AND (importance below threshold).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05840" y="4251960"/>
            <a:ext cx="4983480" cy="2011680"/>
          </a:xfrm>
          <a:prstGeom prst="roundRect">
            <a:avLst/>
          </a:prstGeom>
          <a:solidFill>
            <a:srgbClr val="0B2138">
              <a:alpha val="92000"/>
            </a:srgbClr>
          </a:solidFill>
          <a:ln w="12700">
            <a:solidFill>
              <a:srgbClr val="1C4C72">
                <a:alpha val="65000"/>
              </a:srgbClr>
            </a:solidFill>
            <a:prstDash val="solid"/>
          </a:ln>
          <a:effectLst>
            <a:outerShdw blurRad="50800" dist="254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1325880" y="4507992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logic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25880" y="5010912"/>
            <a:ext cx="4343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E6F0FF"/>
                </a:solidFill>
                <a:latin typeface="Courier New"/>
              </a:rPr>
              <a:t># Pseudocode</a:t>
            </a:r>
            <a:endParaRPr lang="en-US" sz="12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E6F0FF"/>
                </a:solidFill>
                <a:latin typeface="Courier New"/>
              </a:rPr>
              <a:t>drifted = drift_check(train, test, thr=0.10)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E6F0FF"/>
                </a:solidFill>
                <a:latin typeface="Courier New"/>
              </a:rPr>
              <a:t>importance = pilot_importance(train_sample)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E6F0FF"/>
                </a:solidFill>
                <a:latin typeface="Courier New"/>
              </a:rPr>
              <a:t>to_drop = [f for f in drifted if importance[f] &lt; 10]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E6F0FF"/>
                </a:solidFill>
                <a:latin typeface="Courier New"/>
              </a:rPr>
              <a:t>train, test = drop_columns(train, test, to_drop)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E6F0FF"/>
                </a:solidFill>
                <a:latin typeface="Courier New"/>
              </a:rPr>
              <a:t>...</a:t>
            </a:r>
          </a:p>
        </p:txBody>
      </p:sp>
      <p:sp>
        <p:nvSpPr>
          <p:cNvPr id="14" name="Shape 12"/>
          <p:cNvSpPr/>
          <p:nvPr/>
        </p:nvSpPr>
        <p:spPr>
          <a:xfrm>
            <a:off x="6537960" y="2057400"/>
            <a:ext cx="4983480" cy="4434840"/>
          </a:xfrm>
          <a:prstGeom prst="roundRect">
            <a:avLst/>
          </a:prstGeom>
          <a:solidFill>
            <a:srgbClr val="0E2A47">
              <a:alpha val="88000"/>
            </a:srgbClr>
          </a:solidFill>
          <a:ln w="12700">
            <a:solidFill>
              <a:srgbClr val="1C4C72">
                <a:alpha val="65000"/>
              </a:srgbClr>
            </a:solidFill>
            <a:prstDash val="solid"/>
          </a:ln>
          <a:effectLst>
            <a:outerShdw blurRad="50800" dist="254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858000" y="2313432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drift flags (relative mean difference)</a:t>
            </a:r>
            <a:endParaRPr lang="en-US" sz="180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6858000" y="2816352"/>
          <a:ext cx="434340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Text 14"/>
          <p:cNvSpPr/>
          <p:nvPr/>
        </p:nvSpPr>
        <p:spPr>
          <a:xfrm>
            <a:off x="6858000" y="5394960"/>
            <a:ext cx="4343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A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Heuristic: threshold ≈ 10%; keep high-signal features even if drifted.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4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>
              <a:alpha val="35000"/>
            </a:srgbClr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Python_DS • Home Credit Default Risk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595360" y="16459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6565392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A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github.com/zolcsika71/Python_DS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strategy: baseline → ensemble + calibration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13232" y="173736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pragmatic ladder: fast baseline for sanity checks, then higher-capacity boosting and stacking.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85800" y="2057400"/>
            <a:ext cx="5623560" cy="4434840"/>
          </a:xfrm>
          <a:prstGeom prst="roundRect">
            <a:avLst/>
          </a:prstGeom>
          <a:solidFill>
            <a:srgbClr val="0E2A47">
              <a:alpha val="88000"/>
            </a:srgbClr>
          </a:solidFill>
          <a:ln w="12700">
            <a:solidFill>
              <a:srgbClr val="1C4C72">
                <a:alpha val="65000"/>
              </a:srgbClr>
            </a:solidFill>
            <a:prstDash val="solid"/>
          </a:ln>
          <a:effectLst>
            <a:outerShdw blurRad="50800" dist="254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1005840" y="233172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Dual-model approach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05840" y="2788920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Logistic Regression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306324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iteration, interpretable coefficients, reliable reference point for feature validation.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05840" y="3703320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Optimized: Gradient boosting / stacking ensemble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397764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non-linear interactions; ensemble improves robustness by blending diverse boosters.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05840" y="4663440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controls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4983480"/>
            <a:ext cx="4983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calibration (CalibratedClassifierCV: sigmoid / Platt scaling)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cross-validation for stable AUC estimates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snapshots (feature importance + SHAP) for stakeholder review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537960" y="2057400"/>
            <a:ext cx="4983480" cy="4434840"/>
          </a:xfrm>
          <a:prstGeom prst="roundRect">
            <a:avLst/>
          </a:prstGeom>
          <a:solidFill>
            <a:srgbClr val="0E2A47">
              <a:alpha val="88000"/>
            </a:srgbClr>
          </a:solidFill>
          <a:ln w="12700">
            <a:solidFill>
              <a:srgbClr val="1C4C72">
                <a:alpha val="65000"/>
              </a:srgbClr>
            </a:solidFill>
            <a:prstDash val="solid"/>
          </a:ln>
          <a:effectLst>
            <a:outerShdw blurRad="50800" dist="254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858000" y="2331720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 ensemble (concept)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812280" y="2926080"/>
            <a:ext cx="4480560" cy="548640"/>
          </a:xfrm>
          <a:prstGeom prst="roundRect">
            <a:avLst/>
          </a:prstGeom>
          <a:solidFill>
            <a:srgbClr val="0B2138">
              <a:alpha val="94000"/>
            </a:srgbClr>
          </a:solidFill>
          <a:ln w="25400">
            <a:solidFill>
              <a:srgbClr val="34D399">
                <a:alpha val="9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6858000" y="3090672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model 1: LightGBM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812280" y="3657600"/>
            <a:ext cx="4480560" cy="548640"/>
          </a:xfrm>
          <a:prstGeom prst="roundRect">
            <a:avLst/>
          </a:prstGeom>
          <a:solidFill>
            <a:srgbClr val="0B2138">
              <a:alpha val="94000"/>
            </a:srgbClr>
          </a:solidFill>
          <a:ln w="25400">
            <a:solidFill>
              <a:srgbClr val="FBBF24">
                <a:alpha val="9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858000" y="3822192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model 2: XGBoost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812280" y="4389120"/>
            <a:ext cx="4480560" cy="548640"/>
          </a:xfrm>
          <a:prstGeom prst="roundRect">
            <a:avLst/>
          </a:prstGeom>
          <a:solidFill>
            <a:srgbClr val="0B2138">
              <a:alpha val="94000"/>
            </a:srgbClr>
          </a:solidFill>
          <a:ln w="25400">
            <a:solidFill>
              <a:srgbClr val="2DD4BF">
                <a:alpha val="9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858000" y="4553712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model 3: CatBoost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887968" y="3483864"/>
            <a:ext cx="365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FA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887968" y="4224528"/>
            <a:ext cx="365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FA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887968" y="4956048"/>
            <a:ext cx="365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FA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6812280" y="5486400"/>
            <a:ext cx="4480560" cy="731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0A5FA"/>
            </a:solidFill>
            <a:prstDash val="solid"/>
          </a:ln>
          <a:effectLst>
            <a:outerShdw blurRad="38100" dist="1905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6858000" y="5559552"/>
            <a:ext cx="4343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Meta-learner: Logistic Regression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calibrated probabilities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4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>
              <a:alpha val="35000"/>
            </a:srgbClr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Python_DS • Home Credit Default Risk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595360" y="16459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6565392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A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github.com/zolcsika71/Python_DS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diagnostics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13232" y="15087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training signal + the artifacts generated after each run.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85800" y="2057400"/>
            <a:ext cx="5623560" cy="4434840"/>
          </a:xfrm>
          <a:prstGeom prst="roundRect">
            <a:avLst/>
          </a:prstGeom>
          <a:solidFill>
            <a:srgbClr val="0E2A47">
              <a:alpha val="88000"/>
            </a:srgbClr>
          </a:solidFill>
          <a:ln w="12700">
            <a:solidFill>
              <a:srgbClr val="1C4C72">
                <a:alpha val="65000"/>
              </a:srgbClr>
            </a:solidFill>
            <a:prstDash val="solid"/>
          </a:ln>
          <a:effectLst>
            <a:outerShdw blurRad="50800" dist="254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1005840" y="2313432"/>
            <a:ext cx="4983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 learning curve (logloss)</a:t>
            </a:r>
            <a:endParaRPr lang="en-US" sz="200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1005840" y="2816352"/>
          <a:ext cx="4983480" cy="2788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Text 8"/>
          <p:cNvSpPr/>
          <p:nvPr/>
        </p:nvSpPr>
        <p:spPr>
          <a:xfrm>
            <a:off x="1005840" y="571500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7FA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Interpretation: steady loss reduction indicates the model is learning useful signal from engineered features.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537960" y="2057400"/>
            <a:ext cx="4983480" cy="4434840"/>
          </a:xfrm>
          <a:prstGeom prst="roundRect">
            <a:avLst/>
          </a:prstGeom>
          <a:solidFill>
            <a:srgbClr val="0E2A47">
              <a:alpha val="88000"/>
            </a:srgbClr>
          </a:solidFill>
          <a:ln w="12700">
            <a:solidFill>
              <a:srgbClr val="1C4C72">
                <a:alpha val="65000"/>
              </a:srgbClr>
            </a:solidFill>
            <a:prstDash val="solid"/>
          </a:ln>
          <a:effectLst>
            <a:outerShdw blurRad="50800" dist="254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6858000" y="2331720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 produced after a run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6858000" y="2880360"/>
            <a:ext cx="2011680" cy="868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BBF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6967728" y="2990088"/>
            <a:ext cx="1792224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curve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9189720" y="2880360"/>
            <a:ext cx="2011680" cy="868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DD4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9299448" y="2990088"/>
            <a:ext cx="1792224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858000" y="3977640"/>
            <a:ext cx="2011680" cy="868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A78B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6"/>
          <p:cNvSpPr/>
          <p:nvPr/>
        </p:nvSpPr>
        <p:spPr>
          <a:xfrm>
            <a:off x="6967728" y="4087368"/>
            <a:ext cx="1792224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summary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9189720" y="3977640"/>
            <a:ext cx="2011680" cy="868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0A5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8"/>
          <p:cNvSpPr/>
          <p:nvPr/>
        </p:nvSpPr>
        <p:spPr>
          <a:xfrm>
            <a:off x="9299448" y="4087368"/>
            <a:ext cx="1792224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vs test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dist.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858000" y="5074920"/>
            <a:ext cx="2011680" cy="868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4D3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0"/>
          <p:cNvSpPr/>
          <p:nvPr/>
        </p:nvSpPr>
        <p:spPr>
          <a:xfrm>
            <a:off x="6967728" y="5184648"/>
            <a:ext cx="1792224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report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9189720" y="5074920"/>
            <a:ext cx="2011680" cy="868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B718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9299448" y="5184648"/>
            <a:ext cx="1792224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Top-10 risk list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4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>
              <a:alpha val="35000"/>
            </a:srgbClr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Python_DS • Home Credit Default Risk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595360" y="16459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6565392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A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github.com/zolcsika71/Python_DS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can ship from this project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13232" y="15087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outputs for both competition submission and production hardening.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85800" y="2148840"/>
            <a:ext cx="5623560" cy="4389120"/>
          </a:xfrm>
          <a:prstGeom prst="roundRect">
            <a:avLst/>
          </a:prstGeom>
          <a:solidFill>
            <a:srgbClr val="0E2A47">
              <a:alpha val="88000"/>
            </a:srgbClr>
          </a:solidFill>
          <a:ln w="12700">
            <a:solidFill>
              <a:srgbClr val="1C4C72">
                <a:alpha val="65000"/>
              </a:srgbClr>
            </a:solidFill>
            <a:prstDash val="solid"/>
          </a:ln>
          <a:effectLst>
            <a:outerShdw blurRad="50800" dist="254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1005840" y="2404872"/>
            <a:ext cx="4983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05840" y="2907792"/>
            <a:ext cx="4983480" cy="3401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submissions/submission_*.csv — submission file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plots/feature_importance.png — key drivers (audit)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plots/train_roc_curve.png — ROC curve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plots/train_test_distribution_comparison.png — shift check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plots/shap_summary.png — explainability snapshot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537960" y="2148840"/>
            <a:ext cx="4983480" cy="4389120"/>
          </a:xfrm>
          <a:prstGeom prst="roundRect">
            <a:avLst/>
          </a:prstGeom>
          <a:solidFill>
            <a:srgbClr val="0E2A47">
              <a:alpha val="88000"/>
            </a:srgbClr>
          </a:solidFill>
          <a:ln w="12700">
            <a:solidFill>
              <a:srgbClr val="1C4C72">
                <a:alpha val="65000"/>
              </a:srgbClr>
            </a:solidFill>
            <a:prstDash val="solid"/>
          </a:ln>
          <a:effectLst>
            <a:outerShdw blurRad="50800" dist="254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858000" y="2404872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layout (high level)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858000" y="2907792"/>
            <a:ext cx="4343400" cy="3401568"/>
          </a:xfrm>
          <a:prstGeom prst="roundRect">
            <a:avLst/>
          </a:prstGeom>
          <a:solidFill>
            <a:srgbClr val="0B2138">
              <a:alpha val="92000"/>
            </a:srgbClr>
          </a:solidFill>
          <a:ln w="12700">
            <a:solidFill>
              <a:srgbClr val="1C4C72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7086600" y="3072384"/>
            <a:ext cx="3886200" cy="3072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AF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AF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data_processing.py   # joins + drift checks + feature engineering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AF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modeling.py          # pipelines + CV + ensemble + calibration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AF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orchestrator.py      # end-to-end run orchestration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AF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visualization.py     # ROC, SHAP, importances, distribution checks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AF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tests/                 # unit tests for key modules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AF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main.py                # CLI entrypoint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4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>
              <a:alpha val="35000"/>
            </a:srgbClr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Python_DS • Home Credit Default Risk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595360" y="16459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6565392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A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github.com/zolcsika71/Python_DS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13232" y="15087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pipeline is “competition-grade” — and how to push it further.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85800" y="2148840"/>
            <a:ext cx="5623560" cy="3017520"/>
          </a:xfrm>
          <a:prstGeom prst="roundRect">
            <a:avLst/>
          </a:prstGeom>
          <a:solidFill>
            <a:srgbClr val="0E2A47">
              <a:alpha val="88000"/>
            </a:srgbClr>
          </a:solidFill>
          <a:ln w="12700">
            <a:solidFill>
              <a:srgbClr val="1C4C72">
                <a:alpha val="65000"/>
              </a:srgbClr>
            </a:solidFill>
            <a:prstDash val="solid"/>
          </a:ln>
          <a:effectLst>
            <a:outerShdw blurRad="50800" dist="254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1005840" y="2404872"/>
            <a:ext cx="4983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works well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05840" y="2907792"/>
            <a:ext cx="4983480" cy="2029968"/>
          </a:xfrm>
          <a:prstGeom prst="rect">
            <a:avLst/>
          </a:prstGeom>
          <a:noFill/>
          <a:ln/>
        </p:spPr>
        <p:txBody>
          <a:bodyPr wrap="square" rtlCol="0" anchor="t">
            <a:noAutofit/>
          </a:bodyPr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Sklearn-native architecture: reproducible preprocessing + modeling with a single Pipeline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feature store built via parallel aggregation (scales to large CSVs)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Drift-aware feature selection that avoids dropping high-signal predictors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probabilities + explainability outputs support real decisions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537960" y="2148840"/>
            <a:ext cx="4983480" cy="3017520"/>
          </a:xfrm>
          <a:prstGeom prst="roundRect">
            <a:avLst/>
          </a:prstGeom>
          <a:solidFill>
            <a:srgbClr val="0E2A47">
              <a:alpha val="88000"/>
            </a:srgbClr>
          </a:solidFill>
          <a:ln w="12700">
            <a:solidFill>
              <a:srgbClr val="1C4C72">
                <a:alpha val="65000"/>
              </a:srgbClr>
            </a:solidFill>
            <a:prstDash val="solid"/>
          </a:ln>
          <a:effectLst>
            <a:outerShdw blurRad="50800" dist="254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858000" y="2404872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improvements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858000" y="2907792"/>
            <a:ext cx="4343400" cy="2029968"/>
          </a:xfrm>
          <a:prstGeom prst="rect">
            <a:avLst/>
          </a:prstGeom>
          <a:noFill/>
          <a:ln/>
        </p:spPr>
        <p:txBody>
          <a:bodyPr wrap="square" rtlCol="0" anchor="t">
            <a:noAutofit/>
          </a:bodyPr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adversarial validation (train vs test classifier) to quantify covariate shift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hyperparameter search (Optuna) and model cards for governance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metrics &amp; artifacts with MLflow (or equivalent) for experiment lineage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A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monitoring-ready PSI/KS drift dashboards for production deployment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85800" y="6053328"/>
            <a:ext cx="10835640" cy="457200"/>
          </a:xfrm>
          <a:prstGeom prst="roundRect">
            <a:avLst/>
          </a:prstGeom>
          <a:solidFill>
            <a:srgbClr val="0B2138"/>
          </a:solidFill>
          <a:ln w="25400">
            <a:solidFill>
              <a:srgbClr val="FBBF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868680" y="6144768"/>
            <a:ext cx="10469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an end-to-end, drift-aware, explainable pipeline that turns raw credit tables into calibrated default probabilities.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1749</Words>
  <Application>Microsoft Macintosh PowerPoint</Application>
  <PresentationFormat>Widescreen</PresentationFormat>
  <Paragraphs>221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Python_DS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Home Credit Default Risk — Competition-Grade ML Pipeline</dc:title>
  <dc:subject>Python project presentation</dc:subject>
  <dc:creator>Generated by ChatGPT</dc:creator>
  <cp:lastModifiedBy>Zoltán Bokó</cp:lastModifiedBy>
  <cp:revision>5</cp:revision>
  <dcterms:created xsi:type="dcterms:W3CDTF">2026-01-27T00:35:44Z</dcterms:created>
  <dcterms:modified xsi:type="dcterms:W3CDTF">2026-01-27T14:40:05Z</dcterms:modified>
</cp:coreProperties>
</file>