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57" r:id="rId4"/>
    <p:sldId id="267" r:id="rId5"/>
    <p:sldId id="258" r:id="rId6"/>
    <p:sldId id="268" r:id="rId7"/>
    <p:sldId id="269" r:id="rId8"/>
    <p:sldId id="270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2C84"/>
    <a:srgbClr val="03C7E0"/>
    <a:srgbClr val="8CDE1F"/>
    <a:srgbClr val="5F51CA"/>
    <a:srgbClr val="8E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5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Non-empty LOC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config.py</c:v>
                </c:pt>
                <c:pt idx="1">
                  <c:v>data_processing.py</c:v>
                </c:pt>
                <c:pt idx="2">
                  <c:v>modeling.py</c:v>
                </c:pt>
                <c:pt idx="3">
                  <c:v>visualization.py</c:v>
                </c:pt>
                <c:pt idx="4">
                  <c:v>orchestrator.py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35</c:v>
                </c:pt>
                <c:pt idx="2">
                  <c:v>84</c:v>
                </c:pt>
                <c:pt idx="3">
                  <c:v>115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F-EB4B-8863-E2C76906A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7DEFF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7DEFF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solidFill>
          <a:srgbClr val="0F1730"/>
        </a:solidFill>
        <a:ln w="12700" cap="flat">
          <a:solidFill>
            <a:srgbClr val="25304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1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Enhanced visual theme with Unsplash hero image.
[Sources]
- https://unsplash.com/photos/trading-charts-displayed-on-multiple-screens-and-tablet-vKNRKjSNbTo (hero background)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68841-08BA-CACD-4067-0C9DF180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CC1FA-91AE-6A2B-9D26-65AFE39F3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41890-7394-6DCD-76D0-69717D43A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09572-4216-47B9-925F-0296EC0AE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53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98C3-DC81-6CD7-DB60-531865EC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BE7A3-894C-3306-5A9C-00FB1C6B8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47E71-31DB-A9EE-DE05-EAE1209C5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4C810-B56C-EF08-D38A-A47DF65064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48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C5319-2CFC-29F9-FE9A-D78ED1D9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09531-53A5-5D56-08DF-ABE747554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026A6-556C-DD82-B195-46E2018E3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7B082-248B-1109-8890-5758346A8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26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B667-FBA7-DCB1-9776-5B5ADA70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B5B0B-5FD1-9DA5-A74B-649A53526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72BB9-6BC0-FAE3-8BA0-227A19AC0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98D06-6839-ED6F-6831-A7878AEAD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51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9DF00-8441-8689-9C08-6E482207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99FA3-3655-1666-3A09-9062DCF69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DC1B7-31F1-AEAA-2F9B-95A54DBAD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526FE-ED51-51C2-A2CF-FACC4E8BBB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75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Unsplash hero background used for visual emphasis.
[Sources]
- https://unsplash.com/photos/trader-analyzing-stock-market-charts-on-multiple-screens-j_hho1mE47s (hero background)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Includes Unsplash image in the right-side panel.
[Sources]
- https://unsplash.com/photos/trader-analyzing-stock-market-charts-on-multiple-screens-j_hho1mE47s (image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ing_tablet_1800.png"/>
          <p:cNvPicPr>
            <a:picLocks noChangeAspect="1"/>
          </p:cNvPicPr>
          <p:nvPr/>
        </p:nvPicPr>
        <p:blipFill>
          <a:blip r:embed="rId3"/>
          <a:srcRect t="31243" b="3124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6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502920" y="1224724"/>
            <a:ext cx="6720840" cy="2971800"/>
          </a:xfrm>
          <a:prstGeom prst="roundRect">
            <a:avLst/>
          </a:prstGeom>
          <a:solidFill>
            <a:srgbClr val="111A33">
              <a:alpha val="82000"/>
            </a:srgbClr>
          </a:solidFill>
          <a:ln w="12700">
            <a:solidFill>
              <a:srgbClr val="25304F">
                <a:alpha val="45000"/>
              </a:srgbClr>
            </a:solidFill>
            <a:prstDash val="solid"/>
          </a:ln>
          <a:effectLst>
            <a:outerShdw blurRad="50800" dist="1778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 rot="-480000">
            <a:off x="118872" y="929044"/>
            <a:ext cx="7772400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4"/>
          <p:cNvSpPr/>
          <p:nvPr/>
        </p:nvSpPr>
        <p:spPr>
          <a:xfrm>
            <a:off x="850392" y="1559639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50392" y="3063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Machine Learning Pipeline (Python)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0392" y="35204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→ clean features → validated model → plots → submission-ready predictions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98280" y="16916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1" name="Shape 8"/>
          <p:cNvSpPr/>
          <p:nvPr/>
        </p:nvSpPr>
        <p:spPr>
          <a:xfrm>
            <a:off x="9098280" y="1691640"/>
            <a:ext cx="2148840" cy="82296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9"/>
          <p:cNvSpPr/>
          <p:nvPr/>
        </p:nvSpPr>
        <p:spPr>
          <a:xfrm>
            <a:off x="9098280" y="19476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235440" y="25146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(ROC-AUC)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98280" y="30632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2"/>
          <p:cNvSpPr/>
          <p:nvPr/>
        </p:nvSpPr>
        <p:spPr>
          <a:xfrm>
            <a:off x="9098280" y="3063240"/>
            <a:ext cx="2148840" cy="8229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3"/>
          <p:cNvSpPr/>
          <p:nvPr/>
        </p:nvSpPr>
        <p:spPr>
          <a:xfrm>
            <a:off x="9098280" y="33192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923544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44348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9" name="Shape 16"/>
          <p:cNvSpPr/>
          <p:nvPr/>
        </p:nvSpPr>
        <p:spPr>
          <a:xfrm>
            <a:off x="9098280" y="4434840"/>
            <a:ext cx="2148840" cy="82296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9098280" y="46908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9235440" y="5257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+ explainability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0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6" name="Shape 22"/>
          <p:cNvSpPr/>
          <p:nvPr/>
        </p:nvSpPr>
        <p:spPr>
          <a:xfrm>
            <a:off x="9677095" y="6629400"/>
            <a:ext cx="54000" cy="1476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3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552D7850-A11C-0B47-8235-C5F24B06FCB5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65BB49F4-8D42-72F7-AE28-73E0C5551B9E}"/>
              </a:ext>
            </a:extLst>
          </p:cNvPr>
          <p:cNvSpPr txBox="1"/>
          <p:nvPr/>
        </p:nvSpPr>
        <p:spPr>
          <a:xfrm>
            <a:off x="822960" y="4523392"/>
            <a:ext cx="5874612" cy="18825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sz="1300" b="1" dirty="0">
                <a:solidFill>
                  <a:srgbClr val="D6DBE8"/>
                </a:solidFill>
                <a:latin typeface="Calibri"/>
              </a:rPr>
              <a:t>Created by:</a:t>
            </a:r>
          </a:p>
          <a:p>
            <a:pPr>
              <a:spcAft>
                <a:spcPts val="1800"/>
              </a:spcAft>
            </a:pPr>
            <a:r>
              <a:rPr sz="1300" dirty="0">
                <a:solidFill>
                  <a:schemeClr val="bg1"/>
                </a:solidFill>
                <a:latin typeface="Calibri"/>
              </a:rPr>
              <a:t>Bokó Zoltán</a:t>
            </a: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Team members: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D6DBE8"/>
                </a:solidFill>
                <a:latin typeface="Calibri"/>
              </a:rPr>
              <a:t>Molnár Sándor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D6DBE8"/>
                </a:solidFill>
                <a:latin typeface="Calibri"/>
              </a:rPr>
              <a:t>Nagy Ádám</a:t>
            </a:r>
            <a:endParaRPr lang="hu-HU" sz="1300" b="0" dirty="0">
              <a:solidFill>
                <a:srgbClr val="D6DBE8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D6DBE8"/>
                </a:solidFill>
                <a:latin typeface="Calibri"/>
              </a:rPr>
              <a:t>Szabó Zoltán Géza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75233-A2DA-69D7-93AD-E1BF7F70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C10DC1-D91C-B5EC-F685-25A4DD568B8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r>
              <a:rPr lang="hu-HU" dirty="0"/>
              <a:t>5</a:t>
            </a:r>
            <a:endParaRPr lang="en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3320E9-71DD-5C6D-8F93-5462035C6BFE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C000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63EC01-3D58-BFB9-5BCC-4788E6196DAD}"/>
              </a:ext>
            </a:extLst>
          </p:cNvPr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40F8F1-752A-6B16-56A4-81273674127C}"/>
              </a:ext>
            </a:extLst>
          </p:cNvPr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F40923-660F-A5BA-C5EA-185BD891D8BC}"/>
              </a:ext>
            </a:extLst>
          </p:cNvPr>
          <p:cNvSpPr/>
          <p:nvPr/>
        </p:nvSpPr>
        <p:spPr>
          <a:xfrm>
            <a:off x="502920" y="320040"/>
            <a:ext cx="468172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1D84CC-5C8E-61A5-B4D7-9C634770D1FF}"/>
              </a:ext>
            </a:extLst>
          </p:cNvPr>
          <p:cNvSpPr/>
          <p:nvPr/>
        </p:nvSpPr>
        <p:spPr>
          <a:xfrm>
            <a:off x="667512" y="374904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Identification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4A6CB31-CC5C-67AF-5EFC-DE2D3EA0227D}"/>
              </a:ext>
            </a:extLst>
          </p:cNvPr>
          <p:cNvSpPr/>
          <p:nvPr/>
        </p:nvSpPr>
        <p:spPr>
          <a:xfrm>
            <a:off x="6458714" y="1054318"/>
            <a:ext cx="5285232" cy="23774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CE0203E-8C61-4817-7BA4-B90E019EDD07}"/>
              </a:ext>
            </a:extLst>
          </p:cNvPr>
          <p:cNvSpPr/>
          <p:nvPr/>
        </p:nvSpPr>
        <p:spPr>
          <a:xfrm>
            <a:off x="6458714" y="1054318"/>
            <a:ext cx="91440" cy="237744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DC839B-F79F-2FEB-5A55-3861F3B6EE1C}"/>
              </a:ext>
            </a:extLst>
          </p:cNvPr>
          <p:cNvSpPr/>
          <p:nvPr/>
        </p:nvSpPr>
        <p:spPr>
          <a:xfrm>
            <a:off x="6714439" y="121615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54C590D-BED5-69F0-FB3A-47496D4BFE23}"/>
              </a:ext>
            </a:extLst>
          </p:cNvPr>
          <p:cNvSpPr/>
          <p:nvPr/>
        </p:nvSpPr>
        <p:spPr>
          <a:xfrm>
            <a:off x="6714439" y="1618488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 </a:t>
            </a:r>
            <a:r>
              <a:rPr lang="en-US" sz="1200" dirty="0" err="1">
                <a:solidFill>
                  <a:srgbClr val="A9B2C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AMT_INCOME_TOTAL</a:t>
            </a:r>
            <a:r>
              <a:rPr lang="en-US" sz="1200" dirty="0">
                <a:solidFill>
                  <a:srgbClr val="A9B2C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A9B2C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AMT_CREDIT</a:t>
            </a:r>
            <a:r>
              <a:rPr lang="en-US" sz="1200" dirty="0">
                <a:solidFill>
                  <a:srgbClr val="A9B2C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A9B2C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DAYS_EMPLOYED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200" dirty="0" err="1">
                <a:solidFill>
                  <a:srgbClr val="A9B2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EXT_SOURCE</a:t>
            </a:r>
            <a:r>
              <a:rPr lang="en-US" sz="1200" dirty="0">
                <a:solidFill>
                  <a:srgbClr val="A9B2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</a:t>
            </a:r>
            <a:r>
              <a:rPr lang="en-US" sz="1200" dirty="0" err="1">
                <a:solidFill>
                  <a:srgbClr val="A9B2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NAME_EDUCATION_TYPE</a:t>
            </a:r>
            <a:r>
              <a:rPr lang="en-US" sz="1200" dirty="0">
                <a:solidFill>
                  <a:srgbClr val="A9B2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A9B2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OCCUPATION_TYPE</a:t>
            </a:r>
            <a:r>
              <a:rPr lang="en-US" sz="1200" dirty="0">
                <a:solidFill>
                  <a:srgbClr val="A9B2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family status.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4D0318F-B489-9B06-661C-B1F14BC213A9}"/>
              </a:ext>
            </a:extLst>
          </p:cNvPr>
          <p:cNvSpPr/>
          <p:nvPr/>
        </p:nvSpPr>
        <p:spPr>
          <a:xfrm>
            <a:off x="6458714" y="3639312"/>
            <a:ext cx="5285232" cy="2404872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B43543A-A5DB-5A17-2C34-79690FAA24CD}"/>
              </a:ext>
            </a:extLst>
          </p:cNvPr>
          <p:cNvSpPr/>
          <p:nvPr/>
        </p:nvSpPr>
        <p:spPr>
          <a:xfrm>
            <a:off x="6458714" y="3639312"/>
            <a:ext cx="91440" cy="2404872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195427-FE29-5428-B537-069E9D8010B8}"/>
              </a:ext>
            </a:extLst>
          </p:cNvPr>
          <p:cNvSpPr/>
          <p:nvPr/>
        </p:nvSpPr>
        <p:spPr>
          <a:xfrm>
            <a:off x="6714439" y="379476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2083C53-28E5-3AA6-4028-F6A0A5EFA228}"/>
              </a:ext>
            </a:extLst>
          </p:cNvPr>
          <p:cNvSpPr/>
          <p:nvPr/>
        </p:nvSpPr>
        <p:spPr>
          <a:xfrm>
            <a:off x="6714439" y="4197096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the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Loan Analysis or Fannie Mae Mortgage Default Prediction, where a binary status allows for identifying high-risk patterns to improve portfolio health.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7DB3194-BB93-BC33-B0D0-A78EE01A1301}"/>
              </a:ext>
            </a:extLst>
          </p:cNvPr>
          <p:cNvSpPr/>
          <p:nvPr/>
        </p:nvSpPr>
        <p:spPr>
          <a:xfrm>
            <a:off x="448056" y="3639312"/>
            <a:ext cx="5285232" cy="2404872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FB2A463-7213-9EC0-3EC9-2FFF1614364A}"/>
              </a:ext>
            </a:extLst>
          </p:cNvPr>
          <p:cNvSpPr/>
          <p:nvPr/>
        </p:nvSpPr>
        <p:spPr>
          <a:xfrm>
            <a:off x="448056" y="3639312"/>
            <a:ext cx="91440" cy="2404872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8AA158-CFF3-004D-C243-D3A82736A4EB}"/>
              </a:ext>
            </a:extLst>
          </p:cNvPr>
          <p:cNvSpPr/>
          <p:nvPr/>
        </p:nvSpPr>
        <p:spPr>
          <a:xfrm>
            <a:off x="758952" y="3803799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Process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FEB75DC-A9DE-22C8-514F-D08B7440A451}"/>
              </a:ext>
            </a:extLst>
          </p:cNvPr>
          <p:cNvSpPr/>
          <p:nvPr/>
        </p:nvSpPr>
        <p:spPr>
          <a:xfrm>
            <a:off x="758952" y="4206135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variable is TARGET. It is a binary indicator (1 for payment difficulties, 0 otherwise). This is the most important variable as it directly measures the financial risk and success of the loan approval process.</a:t>
            </a:r>
            <a:endParaRPr lang="en-US" sz="12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B1C8096-8004-8893-71F9-B2B66CBC17E2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64623BA-B024-795F-F695-6E2CF6337B73}"/>
              </a:ext>
            </a:extLst>
          </p:cNvPr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B80C293-D7FD-C0C1-ED19-E5C1BE598697}"/>
              </a:ext>
            </a:extLst>
          </p:cNvPr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76295A9B-46F8-1D72-AE06-82842D0CD914}"/>
              </a:ext>
            </a:extLst>
          </p:cNvPr>
          <p:cNvSpPr/>
          <p:nvPr/>
        </p:nvSpPr>
        <p:spPr>
          <a:xfrm>
            <a:off x="9677095" y="6629400"/>
            <a:ext cx="288000" cy="1476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BC667EE-B9FD-9F7F-09FF-030AD2B0E2B3}"/>
              </a:ext>
            </a:extLst>
          </p:cNvPr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2D576122-E396-E44D-9280-95543892B95E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D4F5DE08-A598-4857-4CEF-1BF79FE4D014}"/>
              </a:ext>
            </a:extLst>
          </p:cNvPr>
          <p:cNvSpPr/>
          <p:nvPr/>
        </p:nvSpPr>
        <p:spPr>
          <a:xfrm>
            <a:off x="557784" y="1051560"/>
            <a:ext cx="5285232" cy="23774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9BDC2E2-7D3E-8DFD-0BF9-07C35763E96D}"/>
              </a:ext>
            </a:extLst>
          </p:cNvPr>
          <p:cNvSpPr/>
          <p:nvPr/>
        </p:nvSpPr>
        <p:spPr>
          <a:xfrm>
            <a:off x="758952" y="121615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F5D988B6-FFC0-ECF0-D57A-5B53A5D6D0A4}"/>
              </a:ext>
            </a:extLst>
          </p:cNvPr>
          <p:cNvSpPr/>
          <p:nvPr/>
        </p:nvSpPr>
        <p:spPr>
          <a:xfrm>
            <a:off x="758952" y="1618488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objective is to predict whether an applicant will encounter difficulties repaying a loan, helping Home Credit broaden financial inclusion for the unbanked population by leveraging alternative data.</a:t>
            </a:r>
            <a:endParaRPr lang="en-US" sz="1200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76953FA5-A9D9-3048-6F4C-1EBA195FC859}"/>
              </a:ext>
            </a:extLst>
          </p:cNvPr>
          <p:cNvSpPr/>
          <p:nvPr/>
        </p:nvSpPr>
        <p:spPr>
          <a:xfrm>
            <a:off x="448056" y="1051560"/>
            <a:ext cx="91440" cy="2377440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03022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7030A0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68172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modular ML workflow to estimate the probability that an applicant will have difficulty repaying a loan (TARGET = 1).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reproducibility and extension (baseline → boosted model), with rich evaluation artifacts.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1" name="Shape 9"/>
          <p:cNvSpPr/>
          <p:nvPr/>
        </p:nvSpPr>
        <p:spPr>
          <a:xfrm>
            <a:off x="6400800" y="1051560"/>
            <a:ext cx="91440" cy="1572768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10"/>
          <p:cNvSpPr/>
          <p:nvPr/>
        </p:nvSpPr>
        <p:spPr>
          <a:xfrm>
            <a:off x="6601968" y="117348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1575816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application_train.csv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application_test.csv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CV folds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LightGBM acceleration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761488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3"/>
          <p:cNvSpPr/>
          <p:nvPr/>
        </p:nvSpPr>
        <p:spPr>
          <a:xfrm>
            <a:off x="6400800" y="2761488"/>
            <a:ext cx="91440" cy="1572768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4"/>
          <p:cNvSpPr/>
          <p:nvPr/>
        </p:nvSpPr>
        <p:spPr>
          <a:xfrm>
            <a:off x="6601968" y="288036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1968" y="3282696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Submission-ready 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 curve + 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vs test score distributions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471416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9" name="Shape 17"/>
          <p:cNvSpPr/>
          <p:nvPr/>
        </p:nvSpPr>
        <p:spPr>
          <a:xfrm>
            <a:off x="6400800" y="4471416"/>
            <a:ext cx="91440" cy="1572768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8"/>
          <p:cNvSpPr/>
          <p:nvPr/>
        </p:nvSpPr>
        <p:spPr>
          <a:xfrm>
            <a:off x="6601968" y="457200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1968" y="4974336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K-Fold CV (ROC-AUC)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encoding for unseen categories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 artifacts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for key logic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5" y="6528816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4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Shape 26"/>
          <p:cNvSpPr/>
          <p:nvPr/>
        </p:nvSpPr>
        <p:spPr>
          <a:xfrm>
            <a:off x="9677095" y="6629400"/>
            <a:ext cx="432000" cy="1476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 b="1"/>
          </a:p>
        </p:txBody>
      </p:sp>
      <p:sp>
        <p:nvSpPr>
          <p:cNvPr id="30" name="Text 27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4006EFBA-CF3F-EA4F-AE82-A02F13E2D49C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  <p:pic>
        <p:nvPicPr>
          <p:cNvPr id="34" name="Image 1" descr="/mnt/data/slide_assets/unsplash_trader_pointing_1800.png">
            <a:extLst>
              <a:ext uri="{FF2B5EF4-FFF2-40B4-BE49-F238E27FC236}">
                <a16:creationId xmlns:a16="http://schemas.microsoft.com/office/drawing/2014/main" id="{BA13724D-84F2-979F-A693-9EBCDCB3C2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l="-97" t="-20735" r="97" b="70115"/>
          <a:stretch/>
        </p:blipFill>
        <p:spPr>
          <a:xfrm>
            <a:off x="591160" y="1298448"/>
            <a:ext cx="5650992" cy="4754880"/>
          </a:xfrm>
          <a:prstGeom prst="rect">
            <a:avLst/>
          </a:prstGeom>
        </p:spPr>
      </p:pic>
      <p:sp>
        <p:nvSpPr>
          <p:cNvPr id="35" name="Shape 21">
            <a:extLst>
              <a:ext uri="{FF2B5EF4-FFF2-40B4-BE49-F238E27FC236}">
                <a16:creationId xmlns:a16="http://schemas.microsoft.com/office/drawing/2014/main" id="{5A989C2F-87CE-3DFC-E967-0D100523D28E}"/>
              </a:ext>
            </a:extLst>
          </p:cNvPr>
          <p:cNvSpPr/>
          <p:nvPr/>
        </p:nvSpPr>
        <p:spPr>
          <a:xfrm>
            <a:off x="591160" y="3246119"/>
            <a:ext cx="5650992" cy="2742363"/>
          </a:xfrm>
          <a:prstGeom prst="rect">
            <a:avLst/>
          </a:prstGeom>
          <a:solidFill>
            <a:srgbClr val="0B1020">
              <a:alpha val="3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8585-65EC-188E-A390-28D8A818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EE6372-93FE-B5B6-F4A3-81515DBE98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E20DD7-CA36-AB9C-F709-D101D604BFC7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EC0D06-12F8-4069-5B98-26236BF87316}"/>
              </a:ext>
            </a:extLst>
          </p:cNvPr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DFC87B-099E-BBC6-3A4D-89491F35F725}"/>
              </a:ext>
            </a:extLst>
          </p:cNvPr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FF4EB3-4524-1D1E-07B3-818808837E4C}"/>
              </a:ext>
            </a:extLst>
          </p:cNvPr>
          <p:cNvSpPr/>
          <p:nvPr/>
        </p:nvSpPr>
        <p:spPr>
          <a:xfrm>
            <a:off x="502920" y="320040"/>
            <a:ext cx="468172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ED1534-8CE4-4F1E-74A7-EE7BC9EC17B7}"/>
              </a:ext>
            </a:extLst>
          </p:cNvPr>
          <p:cNvSpPr/>
          <p:nvPr/>
        </p:nvSpPr>
        <p:spPr>
          <a:xfrm>
            <a:off x="667512" y="374904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pic>
        <p:nvPicPr>
          <p:cNvPr id="23" name="Image 0" descr="/mnt/data/hc_montage.png">
            <a:extLst>
              <a:ext uri="{FF2B5EF4-FFF2-40B4-BE49-F238E27FC236}">
                <a16:creationId xmlns:a16="http://schemas.microsoft.com/office/drawing/2014/main" id="{15C12C48-0B22-B48F-F640-C7F4DBBE09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8000"/>
          </a:blip>
          <a:srcRect l="21266" r="21266"/>
          <a:stretch/>
        </p:blipFill>
        <p:spPr>
          <a:xfrm>
            <a:off x="502919" y="1066707"/>
            <a:ext cx="11185855" cy="4921776"/>
          </a:xfrm>
          <a:prstGeom prst="rect">
            <a:avLst/>
          </a:prstGeom>
        </p:spPr>
      </p:pic>
      <p:sp>
        <p:nvSpPr>
          <p:cNvPr id="24" name="Shape 21">
            <a:extLst>
              <a:ext uri="{FF2B5EF4-FFF2-40B4-BE49-F238E27FC236}">
                <a16:creationId xmlns:a16="http://schemas.microsoft.com/office/drawing/2014/main" id="{9A1FC71C-05F3-E64A-CF76-BCDA3C27A8C0}"/>
              </a:ext>
            </a:extLst>
          </p:cNvPr>
          <p:cNvSpPr/>
          <p:nvPr/>
        </p:nvSpPr>
        <p:spPr>
          <a:xfrm>
            <a:off x="502614" y="1066707"/>
            <a:ext cx="11185854" cy="4921776"/>
          </a:xfrm>
          <a:prstGeom prst="rect">
            <a:avLst/>
          </a:prstGeom>
          <a:solidFill>
            <a:srgbClr val="0B1020">
              <a:alpha val="9538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59BBBC1-AFA0-3444-B097-FF18E107E1B1}"/>
              </a:ext>
            </a:extLst>
          </p:cNvPr>
          <p:cNvSpPr/>
          <p:nvPr/>
        </p:nvSpPr>
        <p:spPr>
          <a:xfrm>
            <a:off x="305" y="6528816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92CE226-8637-D9BC-4E58-DABB1D59D67D}"/>
              </a:ext>
            </a:extLst>
          </p:cNvPr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CE0C2A3-C097-5FC8-C313-5AE0AE5142AA}"/>
              </a:ext>
            </a:extLst>
          </p:cNvPr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9F4549C-9FD4-1E20-C087-AB6A9621CBC1}"/>
              </a:ext>
            </a:extLst>
          </p:cNvPr>
          <p:cNvSpPr/>
          <p:nvPr/>
        </p:nvSpPr>
        <p:spPr>
          <a:xfrm>
            <a:off x="9677095" y="6629400"/>
            <a:ext cx="576000" cy="1476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8E35551-1EEA-22CA-FDA6-DCC5C55FFFF5}"/>
              </a:ext>
            </a:extLst>
          </p:cNvPr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DC86E506-456C-B64D-B407-7DA81B5921EC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E25D714F-7CDF-0ECB-DC93-2CEDACBAF64E}"/>
              </a:ext>
            </a:extLst>
          </p:cNvPr>
          <p:cNvSpPr/>
          <p:nvPr/>
        </p:nvSpPr>
        <p:spPr>
          <a:xfrm>
            <a:off x="502308" y="5988483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make the pipeline easy to run, audit, and improve.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2654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C2C84">
              <a:alpha val="86000"/>
            </a:srgbClr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Modules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109728" cy="694944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704088" y="16642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193852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 entry point (options, data path, folds, model selection)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2340864"/>
            <a:ext cx="109728" cy="694944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245059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" y="27249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end-to-end workflow and artifact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109728" cy="694944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Text 17"/>
          <p:cNvSpPr/>
          <p:nvPr/>
        </p:nvSpPr>
        <p:spPr>
          <a:xfrm>
            <a:off x="704088" y="32369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data_processing.py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" y="35112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+ fix known anomalies (DAYS_EMPLOYED placeholder)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2" name="Shape 20"/>
          <p:cNvSpPr/>
          <p:nvPr/>
        </p:nvSpPr>
        <p:spPr>
          <a:xfrm>
            <a:off x="502920" y="3913632"/>
            <a:ext cx="109728" cy="694944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1"/>
          <p:cNvSpPr/>
          <p:nvPr/>
        </p:nvSpPr>
        <p:spPr>
          <a:xfrm>
            <a:off x="704088" y="40233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" y="42976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+ cross-validated training (LR / LightGBM)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00016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6" name="Shape 24"/>
          <p:cNvSpPr/>
          <p:nvPr/>
        </p:nvSpPr>
        <p:spPr>
          <a:xfrm>
            <a:off x="502920" y="4700016"/>
            <a:ext cx="109728" cy="694944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5"/>
          <p:cNvSpPr/>
          <p:nvPr/>
        </p:nvSpPr>
        <p:spPr>
          <a:xfrm>
            <a:off x="704088" y="48097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visualization.py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" y="508406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curve, feature importance, distribution diagnostics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1051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footprint (non-empty LOC)</a:t>
            </a:r>
            <a:endParaRPr lang="en-US" sz="1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492240" y="1417320"/>
          <a:ext cx="5532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6492240" y="4526280"/>
            <a:ext cx="5532120" cy="15544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2" name="Shape 29"/>
          <p:cNvSpPr/>
          <p:nvPr/>
        </p:nvSpPr>
        <p:spPr>
          <a:xfrm>
            <a:off x="6492240" y="4526280"/>
            <a:ext cx="91440" cy="155448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0"/>
          <p:cNvSpPr/>
          <p:nvPr/>
        </p:nvSpPr>
        <p:spPr>
          <a:xfrm>
            <a:off x="6693408" y="46908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93408" y="5093208"/>
            <a:ext cx="5221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intentionally split into single-purpose modules so you can: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 transformations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swap models without refactoring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consistent artifacts across runs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8" name="Shape 35"/>
          <p:cNvSpPr/>
          <p:nvPr/>
        </p:nvSpPr>
        <p:spPr>
          <a:xfrm>
            <a:off x="9677095" y="6629400"/>
            <a:ext cx="720000" cy="1296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9" name="Text 36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718107A5-436A-4748-B20B-38EF672ACFB0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0567A-8231-6079-C2DD-95E277F4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B883DD-55E7-FF5F-FBD7-6EA1C362A888}"/>
              </a:ext>
            </a:extLst>
          </p:cNvPr>
          <p:cNvSpPr/>
          <p:nvPr/>
        </p:nvSpPr>
        <p:spPr>
          <a:xfrm>
            <a:off x="-8556" y="36576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D47B9D-5DBE-DFDE-7C01-0DC2DA5749CE}"/>
              </a:ext>
            </a:extLst>
          </p:cNvPr>
          <p:cNvSpPr/>
          <p:nvPr/>
        </p:nvSpPr>
        <p:spPr>
          <a:xfrm>
            <a:off x="-17112" y="23571"/>
            <a:ext cx="12235085" cy="841248"/>
          </a:xfrm>
          <a:prstGeom prst="rect">
            <a:avLst/>
          </a:prstGeom>
          <a:solidFill>
            <a:srgbClr val="8CDE1F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A9AD97-7D7B-E80A-F555-E21C81077B6D}"/>
              </a:ext>
            </a:extLst>
          </p:cNvPr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228DA6-015E-3E26-6AF5-50F1761D4CDA}"/>
              </a:ext>
            </a:extLst>
          </p:cNvPr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201C70-89D2-5124-A3CA-CD4B511B4425}"/>
              </a:ext>
            </a:extLst>
          </p:cNvPr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Module</a:t>
            </a:r>
            <a:r>
              <a:rPr lang="hu-HU" sz="1400" b="1" dirty="0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Component</a:t>
            </a:r>
            <a:r>
              <a:rPr lang="hu-HU" dirty="0"/>
              <a:t> </a:t>
            </a:r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Descriptions</a:t>
            </a:r>
            <a:endParaRPr lang="en-HU" sz="1400" b="1">
              <a:solidFill>
                <a:srgbClr val="F3F6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E36D8E-908A-D9A6-6698-25EFE9204112}"/>
              </a:ext>
            </a:extLst>
          </p:cNvPr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2363453-97FE-A97B-6E77-25AED6EBA166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269D8026-7B5C-0ACA-5E75-7F5066BDE868}"/>
              </a:ext>
            </a:extLst>
          </p:cNvPr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7A699E0E-7110-5D6D-1D10-37CAD0321DBC}"/>
              </a:ext>
            </a:extLst>
          </p:cNvPr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250D0AA0-ADA3-579B-B39A-3183AAA6D38C}"/>
              </a:ext>
            </a:extLst>
          </p:cNvPr>
          <p:cNvSpPr/>
          <p:nvPr/>
        </p:nvSpPr>
        <p:spPr>
          <a:xfrm>
            <a:off x="9677095" y="6629400"/>
            <a:ext cx="864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F1C00886-C095-F49D-FE86-13C008CD8619}"/>
              </a:ext>
            </a:extLst>
          </p:cNvPr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718107A5-436A-4748-B20B-38EF672ACFB0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4A15B2BB-BFCF-05E5-1F66-8BB9949041B3}"/>
              </a:ext>
            </a:extLst>
          </p:cNvPr>
          <p:cNvSpPr/>
          <p:nvPr/>
        </p:nvSpPr>
        <p:spPr>
          <a:xfrm>
            <a:off x="436300" y="1044932"/>
            <a:ext cx="5650992" cy="2414603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3C7CD4FE-F767-815B-50D2-0CC532FBCAEF}"/>
              </a:ext>
            </a:extLst>
          </p:cNvPr>
          <p:cNvSpPr/>
          <p:nvPr/>
        </p:nvSpPr>
        <p:spPr>
          <a:xfrm>
            <a:off x="436300" y="1044933"/>
            <a:ext cx="91440" cy="2415600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F0FF0CE-12F2-8986-6D24-8CF11CC3BCD1}"/>
              </a:ext>
            </a:extLst>
          </p:cNvPr>
          <p:cNvSpPr/>
          <p:nvPr/>
        </p:nvSpPr>
        <p:spPr>
          <a:xfrm>
            <a:off x="637468" y="1209525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main.py</a:t>
            </a:r>
            <a:endParaRPr lang="en-US" sz="1600" b="1" dirty="0">
              <a:solidFill>
                <a:srgbClr val="F3F6FF"/>
              </a:solidFill>
              <a:latin typeface="Consolas" panose="020B0609020204030204" pitchFamily="49" charset="0"/>
              <a:ea typeface="Calibri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600" b="1" dirty="0">
              <a:solidFill>
                <a:srgbClr val="F3F6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6B872F67-6D0F-B6AF-9CDD-816CDF537637}"/>
              </a:ext>
            </a:extLst>
          </p:cNvPr>
          <p:cNvSpPr/>
          <p:nvPr/>
        </p:nvSpPr>
        <p:spPr>
          <a:xfrm>
            <a:off x="637468" y="1489715"/>
            <a:ext cx="5157697" cy="161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entry point for the application. It handles Command Line Interface (CLI) arguments and triggers the orchestration logic.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main(): Uses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handle user inputs such as data directories, number of CV folds, model preference, and output paths.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Interactions: 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user interface, passing configuration to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E32CC20B-DB1E-AFFA-389A-19DCC67A7982}"/>
              </a:ext>
            </a:extLst>
          </p:cNvPr>
          <p:cNvSpPr/>
          <p:nvPr/>
        </p:nvSpPr>
        <p:spPr>
          <a:xfrm>
            <a:off x="6325428" y="1054664"/>
            <a:ext cx="5650992" cy="315585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AAC7C175-A662-D0EB-5D65-37597B2B0991}"/>
              </a:ext>
            </a:extLst>
          </p:cNvPr>
          <p:cNvSpPr/>
          <p:nvPr/>
        </p:nvSpPr>
        <p:spPr>
          <a:xfrm>
            <a:off x="6325428" y="1054664"/>
            <a:ext cx="91440" cy="3155854"/>
          </a:xfrm>
          <a:prstGeom prst="roundRect">
            <a:avLst/>
          </a:prstGeom>
          <a:solidFill>
            <a:srgbClr val="03C7E0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DB779401-C72A-BA78-9996-F3FCC5EC0134}"/>
              </a:ext>
            </a:extLst>
          </p:cNvPr>
          <p:cNvSpPr/>
          <p:nvPr/>
        </p:nvSpPr>
        <p:spPr>
          <a:xfrm>
            <a:off x="6526596" y="1219256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src</a:t>
            </a:r>
            <a:r>
              <a:rPr lang="en-US" sz="1600" b="1" dirty="0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/</a:t>
            </a: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config.py</a:t>
            </a:r>
            <a:endParaRPr lang="en-US" sz="1600" b="1" dirty="0">
              <a:solidFill>
                <a:srgbClr val="F3F6FF"/>
              </a:solidFill>
              <a:latin typeface="Consolas" panose="020B0609020204030204" pitchFamily="49" charset="0"/>
              <a:ea typeface="Calibri" pitchFamily="34" charset="-122"/>
              <a:cs typeface="Consolas" panose="020B0609020204030204" pitchFamily="49" charset="0"/>
            </a:endParaRPr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76BEC17B-8CEF-BBB9-639F-5B6B68613AD4}"/>
              </a:ext>
            </a:extLst>
          </p:cNvPr>
          <p:cNvSpPr/>
          <p:nvPr/>
        </p:nvSpPr>
        <p:spPr>
          <a:xfrm>
            <a:off x="6526596" y="1499446"/>
            <a:ext cx="5449824" cy="2674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centralizes all project-wide settings to ensure consistency across different execution environments.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Functions/Classes: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ColorFormatter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custom logging formatter that colors INFO messages green for better readability in the terminal.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ModelConfig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frozen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stores hyperparameters for both Logistic Regression and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setup_directories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(): Ensures that plots/ and submissions/ folders exist before the pipeline attempts to write to them.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Imported by almost every other module to access the global logger and the CONFIG object.</a:t>
            </a:r>
            <a:endParaRPr lang="en-US" sz="1200" dirty="0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17E9C347-6DC7-F663-BAE7-DE567FD43506}"/>
              </a:ext>
            </a:extLst>
          </p:cNvPr>
          <p:cNvSpPr/>
          <p:nvPr/>
        </p:nvSpPr>
        <p:spPr>
          <a:xfrm>
            <a:off x="436300" y="3679580"/>
            <a:ext cx="5650992" cy="27151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5F8A3C9F-7121-A9BC-0E59-78A060016DD6}"/>
              </a:ext>
            </a:extLst>
          </p:cNvPr>
          <p:cNvSpPr/>
          <p:nvPr/>
        </p:nvSpPr>
        <p:spPr>
          <a:xfrm>
            <a:off x="436300" y="3679580"/>
            <a:ext cx="91440" cy="2715180"/>
          </a:xfrm>
          <a:prstGeom prst="roundRect">
            <a:avLst/>
          </a:prstGeom>
          <a:solidFill>
            <a:srgbClr val="DC2C84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7F6D3E25-ABA5-59D5-1D0E-EAB2B1C8678C}"/>
              </a:ext>
            </a:extLst>
          </p:cNvPr>
          <p:cNvSpPr/>
          <p:nvPr/>
        </p:nvSpPr>
        <p:spPr>
          <a:xfrm>
            <a:off x="637468" y="3914213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src</a:t>
            </a:r>
            <a:r>
              <a:rPr lang="en-US" sz="1600" b="1" dirty="0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/</a:t>
            </a: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data_processing.py</a:t>
            </a:r>
            <a:endParaRPr lang="en-US" sz="1600" b="1" dirty="0">
              <a:solidFill>
                <a:srgbClr val="F3F6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782504DE-D208-11F4-714C-6A6D5759A80C}"/>
              </a:ext>
            </a:extLst>
          </p:cNvPr>
          <p:cNvSpPr/>
          <p:nvPr/>
        </p:nvSpPr>
        <p:spPr>
          <a:xfrm>
            <a:off x="637468" y="4194402"/>
            <a:ext cx="5157697" cy="1852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the "Extract and Transform" part of the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process.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data_dir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Reads the training and testing datasets from CSV files.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fix_known_anomalies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Implements domain-specific cleaning logic, such as handling the "1000-year" employment anomaly.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Called early in the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 to prepare data for modeling.</a:t>
            </a:r>
          </a:p>
        </p:txBody>
      </p:sp>
      <p:pic>
        <p:nvPicPr>
          <p:cNvPr id="58" name="Image 0" descr="/mnt/data/slide_assets/unsplash_trader_pointing_1800.png">
            <a:extLst>
              <a:ext uri="{FF2B5EF4-FFF2-40B4-BE49-F238E27FC236}">
                <a16:creationId xmlns:a16="http://schemas.microsoft.com/office/drawing/2014/main" id="{040391E5-1955-AC96-9407-308C69CF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79" b="33079"/>
          <a:stretch/>
        </p:blipFill>
        <p:spPr>
          <a:xfrm>
            <a:off x="6426012" y="4377126"/>
            <a:ext cx="5449824" cy="2017634"/>
          </a:xfrm>
          <a:prstGeom prst="rect">
            <a:avLst/>
          </a:prstGeom>
        </p:spPr>
      </p:pic>
      <p:sp>
        <p:nvSpPr>
          <p:cNvPr id="59" name="Shape 1">
            <a:extLst>
              <a:ext uri="{FF2B5EF4-FFF2-40B4-BE49-F238E27FC236}">
                <a16:creationId xmlns:a16="http://schemas.microsoft.com/office/drawing/2014/main" id="{3815B139-6833-5329-6677-F6FED87D493A}"/>
              </a:ext>
            </a:extLst>
          </p:cNvPr>
          <p:cNvSpPr/>
          <p:nvPr/>
        </p:nvSpPr>
        <p:spPr>
          <a:xfrm>
            <a:off x="6410303" y="4353718"/>
            <a:ext cx="5449824" cy="2078211"/>
          </a:xfrm>
          <a:prstGeom prst="rect">
            <a:avLst/>
          </a:prstGeom>
          <a:solidFill>
            <a:srgbClr val="0B1020">
              <a:alpha val="6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32116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2FE2-77AC-CD43-F486-BED86994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slide_assets/unsplash_trader_pointing_1800.png">
            <a:extLst>
              <a:ext uri="{FF2B5EF4-FFF2-40B4-BE49-F238E27FC236}">
                <a16:creationId xmlns:a16="http://schemas.microsoft.com/office/drawing/2014/main" id="{B444AF49-BC1C-A3D7-03E4-B23FF9E0C5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79" b="3307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310083C3-2B51-048F-FE1F-033BE20697C4}"/>
              </a:ext>
            </a:extLst>
          </p:cNvPr>
          <p:cNvSpPr/>
          <p:nvPr/>
        </p:nvSpPr>
        <p:spPr>
          <a:xfrm>
            <a:off x="305" y="9144"/>
            <a:ext cx="12191695" cy="6858000"/>
          </a:xfrm>
          <a:prstGeom prst="rect">
            <a:avLst/>
          </a:prstGeom>
          <a:solidFill>
            <a:srgbClr val="0B1020">
              <a:alpha val="6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F2190F7-2F12-BE8D-09A8-CF956C7765E6}"/>
              </a:ext>
            </a:extLst>
          </p:cNvPr>
          <p:cNvSpPr/>
          <p:nvPr/>
        </p:nvSpPr>
        <p:spPr>
          <a:xfrm>
            <a:off x="0" y="2536132"/>
            <a:ext cx="12191695" cy="43218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AD5D28-C7DA-ACA7-C3CC-6610FE9B4F1F}"/>
              </a:ext>
            </a:extLst>
          </p:cNvPr>
          <p:cNvSpPr/>
          <p:nvPr/>
        </p:nvSpPr>
        <p:spPr>
          <a:xfrm>
            <a:off x="305" y="0"/>
            <a:ext cx="12191695" cy="841248"/>
          </a:xfrm>
          <a:prstGeom prst="rect">
            <a:avLst/>
          </a:prstGeom>
          <a:solidFill>
            <a:srgbClr val="FFC000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D2193D-54CA-6B4D-ABBA-E8F7E999B433}"/>
              </a:ext>
            </a:extLst>
          </p:cNvPr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57A757-17F9-00BE-D936-78AC2311ADD9}"/>
              </a:ext>
            </a:extLst>
          </p:cNvPr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C3265B-A5B8-EAB8-E29B-A94473FB29EC}"/>
              </a:ext>
            </a:extLst>
          </p:cNvPr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Module</a:t>
            </a:r>
            <a:r>
              <a:rPr lang="hu-HU" sz="1400" b="1" dirty="0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Component</a:t>
            </a:r>
            <a:r>
              <a:rPr lang="hu-HU" dirty="0"/>
              <a:t> </a:t>
            </a:r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Descriptions</a:t>
            </a:r>
            <a:endParaRPr lang="en-HU" sz="1400" b="1">
              <a:solidFill>
                <a:srgbClr val="F3F6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D2AC93-E0A6-3559-0099-8F52D4A9C9E0}"/>
              </a:ext>
            </a:extLst>
          </p:cNvPr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AC90CEA7-B7BA-30C7-7AEE-128A99430D31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9A62043-E4B2-3783-2EC1-B5D7A5E29EF3}"/>
              </a:ext>
            </a:extLst>
          </p:cNvPr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EEA2E3F7-7E18-6830-7A83-0AC524C43832}"/>
              </a:ext>
            </a:extLst>
          </p:cNvPr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92608A70-2640-EC8D-984E-30241F0F57AF}"/>
              </a:ext>
            </a:extLst>
          </p:cNvPr>
          <p:cNvSpPr/>
          <p:nvPr/>
        </p:nvSpPr>
        <p:spPr>
          <a:xfrm>
            <a:off x="9677095" y="6629400"/>
            <a:ext cx="1008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772B678B-445D-59FA-A7BC-AE647BE259DD}"/>
              </a:ext>
            </a:extLst>
          </p:cNvPr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718107A5-436A-4748-B20B-38EF672ACFB0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F8E2364D-0E9C-612C-1A65-2ED7000CC68E}"/>
              </a:ext>
            </a:extLst>
          </p:cNvPr>
          <p:cNvSpPr/>
          <p:nvPr/>
        </p:nvSpPr>
        <p:spPr>
          <a:xfrm>
            <a:off x="327912" y="2774206"/>
            <a:ext cx="5650992" cy="364373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6182325D-D366-BDB3-E5E7-7DCA0A4B6316}"/>
              </a:ext>
            </a:extLst>
          </p:cNvPr>
          <p:cNvSpPr/>
          <p:nvPr/>
        </p:nvSpPr>
        <p:spPr>
          <a:xfrm>
            <a:off x="327912" y="2774206"/>
            <a:ext cx="91440" cy="3650400"/>
          </a:xfrm>
          <a:prstGeom prst="roundRect">
            <a:avLst/>
          </a:prstGeom>
          <a:solidFill>
            <a:srgbClr val="8CDE1F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F8F0C6A-466C-D23A-4459-7AB097680DE3}"/>
              </a:ext>
            </a:extLst>
          </p:cNvPr>
          <p:cNvSpPr/>
          <p:nvPr/>
        </p:nvSpPr>
        <p:spPr>
          <a:xfrm>
            <a:off x="529080" y="2938798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src</a:t>
            </a:r>
            <a:r>
              <a:rPr lang="en-US" sz="1600" b="1" dirty="0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/</a:t>
            </a: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modeling.py</a:t>
            </a:r>
            <a:endParaRPr lang="en-US" sz="1600" b="1" dirty="0">
              <a:solidFill>
                <a:srgbClr val="F3F6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6C57208D-8EDC-986C-123A-5BB1BA18A53F}"/>
              </a:ext>
            </a:extLst>
          </p:cNvPr>
          <p:cNvSpPr/>
          <p:nvPr/>
        </p:nvSpPr>
        <p:spPr>
          <a:xfrm>
            <a:off x="529080" y="3218988"/>
            <a:ext cx="5157697" cy="161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structural definitions of the machine learning models and the cross-validation logic.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b="1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build_pipeline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cat_cols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num_cols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Creates a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imputes and scales data based on whether a column is categorical or numerical.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try_build_model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prefer_lightgbm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A factory function that attempts to instantiate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LGBMClassifier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falls back to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unavailable.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cross_validate_auc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folds): Performs Stratified K-Fold cross-validation and logs the Mean AUC score.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Interactions: Receives cleaned data from the orchestrator and provides trained pipelines back to it.</a:t>
            </a:r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CC9AF342-97DE-ACB6-CC00-6E5A91011CEF}"/>
              </a:ext>
            </a:extLst>
          </p:cNvPr>
          <p:cNvSpPr/>
          <p:nvPr/>
        </p:nvSpPr>
        <p:spPr>
          <a:xfrm>
            <a:off x="6186103" y="2774206"/>
            <a:ext cx="5650992" cy="2988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BE98034C-F09B-0EE7-EC9F-6FC4554099DE}"/>
              </a:ext>
            </a:extLst>
          </p:cNvPr>
          <p:cNvSpPr/>
          <p:nvPr/>
        </p:nvSpPr>
        <p:spPr>
          <a:xfrm>
            <a:off x="6186103" y="2774206"/>
            <a:ext cx="91440" cy="2991600"/>
          </a:xfrm>
          <a:prstGeom prst="roundRect">
            <a:avLst/>
          </a:prstGeom>
          <a:solidFill>
            <a:srgbClr val="7030A0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6E7E47FE-48B4-9D79-61AA-875015A66C2D}"/>
              </a:ext>
            </a:extLst>
          </p:cNvPr>
          <p:cNvSpPr/>
          <p:nvPr/>
        </p:nvSpPr>
        <p:spPr>
          <a:xfrm>
            <a:off x="6387271" y="2938798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src</a:t>
            </a:r>
            <a:r>
              <a:rPr lang="en-US" sz="1600" b="1" dirty="0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/</a:t>
            </a: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visualization.py</a:t>
            </a:r>
            <a:endParaRPr lang="en-US" sz="1600" b="1" dirty="0">
              <a:solidFill>
                <a:srgbClr val="F3F6FF"/>
              </a:solidFill>
              <a:latin typeface="Consolas" panose="020B0609020204030204" pitchFamily="49" charset="0"/>
              <a:ea typeface="Calibri" pitchFamily="34" charset="-122"/>
              <a:cs typeface="Consolas" panose="020B0609020204030204" pitchFamily="49" charset="0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08ED89CD-EFEB-F9FA-A7C2-270D5FEAA891}"/>
              </a:ext>
            </a:extLst>
          </p:cNvPr>
          <p:cNvSpPr/>
          <p:nvPr/>
        </p:nvSpPr>
        <p:spPr>
          <a:xfrm>
            <a:off x="6387271" y="3218988"/>
            <a:ext cx="5157697" cy="161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visual evidence of model performance and data health.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plot_feature_importance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Extracts coefficients or importance scores from the trained model and creates a bar chart.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plot_roc_curve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y_true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y_probes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Generates the ROC curve and calculates the AUC for the training set.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plot_train_test_distribution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train_proba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test_proba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Overlays histograms of predictions to check for model stability.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Called by the orchestrator after the final model training is complete.</a:t>
            </a:r>
          </a:p>
        </p:txBody>
      </p:sp>
    </p:spTree>
    <p:extLst>
      <p:ext uri="{BB962C8B-B14F-4D97-AF65-F5344CB8AC3E}">
        <p14:creationId xmlns:p14="http://schemas.microsoft.com/office/powerpoint/2010/main" val="300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2B19-8E09-3239-BE47-401345AA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slide_assets/unsplash_trader_pointing_1800.png">
            <a:extLst>
              <a:ext uri="{FF2B5EF4-FFF2-40B4-BE49-F238E27FC236}">
                <a16:creationId xmlns:a16="http://schemas.microsoft.com/office/drawing/2014/main" id="{2D908D7B-42B3-3F41-DAEB-AD5E6100AC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79" b="3307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E640DA32-9005-7BD9-E705-7F3CDEC14811}"/>
              </a:ext>
            </a:extLst>
          </p:cNvPr>
          <p:cNvSpPr/>
          <p:nvPr/>
        </p:nvSpPr>
        <p:spPr>
          <a:xfrm>
            <a:off x="-305" y="1494472"/>
            <a:ext cx="12191695" cy="6858000"/>
          </a:xfrm>
          <a:prstGeom prst="rect">
            <a:avLst/>
          </a:prstGeom>
          <a:solidFill>
            <a:srgbClr val="0B1020">
              <a:alpha val="6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CB4BE50-1C61-31E2-5C17-981F2C55C7F6}"/>
              </a:ext>
            </a:extLst>
          </p:cNvPr>
          <p:cNvSpPr/>
          <p:nvPr/>
        </p:nvSpPr>
        <p:spPr>
          <a:xfrm>
            <a:off x="0" y="0"/>
            <a:ext cx="12191695" cy="4852219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5D38EC-2CFC-AAE9-FBBA-F85111A5B78A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F51CA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31F52F-DA84-A3FB-7DDD-4B765F288E56}"/>
              </a:ext>
            </a:extLst>
          </p:cNvPr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73F5E7-32CB-803C-1B73-E1C2E27FF082}"/>
              </a:ext>
            </a:extLst>
          </p:cNvPr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9A6FE8-0D71-4EAE-7166-65D081000AC7}"/>
              </a:ext>
            </a:extLst>
          </p:cNvPr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Module</a:t>
            </a:r>
            <a:r>
              <a:rPr lang="hu-HU" sz="1400" b="1" dirty="0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Component</a:t>
            </a:r>
            <a:r>
              <a:rPr lang="hu-HU" dirty="0"/>
              <a:t> </a:t>
            </a:r>
            <a:r>
              <a:rPr lang="hu-HU" sz="1400" b="1" dirty="0" err="1">
                <a:solidFill>
                  <a:srgbClr val="F3F6FF"/>
                </a:solidFill>
                <a:latin typeface="Calibri" pitchFamily="34" charset="0"/>
                <a:cs typeface="Calibri" pitchFamily="34" charset="-120"/>
              </a:rPr>
              <a:t>Descriptions</a:t>
            </a:r>
            <a:endParaRPr lang="en-HU" sz="1400" b="1">
              <a:solidFill>
                <a:srgbClr val="F3F6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0B9BBB-8493-4CFD-3318-E5FC12DB9301}"/>
              </a:ext>
            </a:extLst>
          </p:cNvPr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103A7740-58E5-3190-266B-60A9ED9B0AF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D25B7BD-CC6A-EA32-D96C-CBBD7CF8F713}"/>
              </a:ext>
            </a:extLst>
          </p:cNvPr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54051CD8-97A6-4829-B6C4-35CE85178F20}"/>
              </a:ext>
            </a:extLst>
          </p:cNvPr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3B44E4F-E80F-F085-7F63-6688DF015AC6}"/>
              </a:ext>
            </a:extLst>
          </p:cNvPr>
          <p:cNvSpPr/>
          <p:nvPr/>
        </p:nvSpPr>
        <p:spPr>
          <a:xfrm>
            <a:off x="9677095" y="6629400"/>
            <a:ext cx="1152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E4FB40B5-E737-159F-72DC-0A2B1C11BCA4}"/>
              </a:ext>
            </a:extLst>
          </p:cNvPr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718107A5-436A-4748-B20B-38EF672ACFB0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283AB36C-B2AE-1BB7-D19D-3FA86590647F}"/>
              </a:ext>
            </a:extLst>
          </p:cNvPr>
          <p:cNvSpPr/>
          <p:nvPr/>
        </p:nvSpPr>
        <p:spPr>
          <a:xfrm>
            <a:off x="325940" y="1014397"/>
            <a:ext cx="5650992" cy="364373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4293F68D-8527-8FAF-B92B-401788DBFDA7}"/>
              </a:ext>
            </a:extLst>
          </p:cNvPr>
          <p:cNvSpPr/>
          <p:nvPr/>
        </p:nvSpPr>
        <p:spPr>
          <a:xfrm>
            <a:off x="325940" y="1014397"/>
            <a:ext cx="91440" cy="3650400"/>
          </a:xfrm>
          <a:prstGeom prst="roundRect">
            <a:avLst/>
          </a:prstGeom>
          <a:solidFill>
            <a:srgbClr val="03C7E0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C2C82EC4-99CF-9BFD-53F3-46E963F738E6}"/>
              </a:ext>
            </a:extLst>
          </p:cNvPr>
          <p:cNvSpPr/>
          <p:nvPr/>
        </p:nvSpPr>
        <p:spPr>
          <a:xfrm>
            <a:off x="527108" y="1178989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test_data_processing.py</a:t>
            </a:r>
            <a:r>
              <a:rPr lang="en-US" sz="1600" b="1" dirty="0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&amp; </a:t>
            </a: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test_modeling.py</a:t>
            </a:r>
            <a:endParaRPr lang="en-US" sz="1600" b="1" dirty="0">
              <a:solidFill>
                <a:srgbClr val="F3F6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B9BE1CCB-B6E5-A143-2659-A3E6DCE1EB8C}"/>
              </a:ext>
            </a:extLst>
          </p:cNvPr>
          <p:cNvSpPr/>
          <p:nvPr/>
        </p:nvSpPr>
        <p:spPr>
          <a:xfrm>
            <a:off x="527108" y="1459179"/>
            <a:ext cx="5157697" cy="1617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designed to ensure the stability of the core logic.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Tests: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test_fix_known_anomalies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Verifies that the employment anomaly flag is correctly created.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test_build_pipeline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Confirms that the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correctly processes different data types.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Standalone scripts that import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modules to validate their behavior via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60813032-0969-EBBC-92CA-549C3696F297}"/>
              </a:ext>
            </a:extLst>
          </p:cNvPr>
          <p:cNvSpPr/>
          <p:nvPr/>
        </p:nvSpPr>
        <p:spPr>
          <a:xfrm>
            <a:off x="6186103" y="1014397"/>
            <a:ext cx="5650992" cy="2341156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1539DFA0-2EB1-A4B7-4113-A0F1DD00C26D}"/>
              </a:ext>
            </a:extLst>
          </p:cNvPr>
          <p:cNvSpPr/>
          <p:nvPr/>
        </p:nvSpPr>
        <p:spPr>
          <a:xfrm>
            <a:off x="6142355" y="1014397"/>
            <a:ext cx="91440" cy="2341156"/>
          </a:xfrm>
          <a:prstGeom prst="roundRect">
            <a:avLst/>
          </a:prstGeom>
          <a:solidFill>
            <a:srgbClr val="DC2C84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4AF43F80-613C-55A5-AB7B-010BE4E74C4C}"/>
              </a:ext>
            </a:extLst>
          </p:cNvPr>
          <p:cNvSpPr/>
          <p:nvPr/>
        </p:nvSpPr>
        <p:spPr>
          <a:xfrm>
            <a:off x="6387271" y="1178989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src</a:t>
            </a:r>
            <a:r>
              <a:rPr lang="en-US" sz="1600" b="1" dirty="0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/</a:t>
            </a:r>
            <a:r>
              <a:rPr lang="en-US" sz="1600" b="1" dirty="0" err="1">
                <a:solidFill>
                  <a:srgbClr val="F3F6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orchestrator.py</a:t>
            </a:r>
            <a:endParaRPr lang="en-US" sz="1600" b="1" dirty="0">
              <a:solidFill>
                <a:srgbClr val="F3F6FF"/>
              </a:solidFill>
              <a:latin typeface="Consolas" panose="020B0609020204030204" pitchFamily="49" charset="0"/>
              <a:ea typeface="Calibri" pitchFamily="34" charset="-122"/>
              <a:cs typeface="Consolas" panose="020B0609020204030204" pitchFamily="49" charset="0"/>
            </a:endParaRPr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A95C3AD0-2944-CA7C-E0C4-9301DEB9C88B}"/>
              </a:ext>
            </a:extLst>
          </p:cNvPr>
          <p:cNvSpPr/>
          <p:nvPr/>
        </p:nvSpPr>
        <p:spPr>
          <a:xfrm>
            <a:off x="6387271" y="1459179"/>
            <a:ext cx="5449824" cy="17524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workflow coordinator that connects all components into a single pipeline.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A9B2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(...): Orchestrates the sequence of events: directory setup, data loading, anomaly fixing, cross-validation, final training, visualization, and submission generation.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Interactions: Imports and invokes functionality from all other </a:t>
            </a:r>
            <a:r>
              <a:rPr lang="en-US" sz="1200" dirty="0" err="1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modules.</a:t>
            </a:r>
          </a:p>
        </p:txBody>
      </p:sp>
    </p:spTree>
    <p:extLst>
      <p:ext uri="{BB962C8B-B14F-4D97-AF65-F5344CB8AC3E}">
        <p14:creationId xmlns:p14="http://schemas.microsoft.com/office/powerpoint/2010/main" val="334618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er_pointing_1800.png"/>
          <p:cNvPicPr>
            <a:picLocks noChangeAspect="1"/>
          </p:cNvPicPr>
          <p:nvPr/>
        </p:nvPicPr>
        <p:blipFill>
          <a:blip r:embed="rId3"/>
          <a:srcRect t="33079" b="3307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234544" y="1453896"/>
            <a:ext cx="12191695" cy="6858000"/>
          </a:xfrm>
          <a:prstGeom prst="rect">
            <a:avLst/>
          </a:prstGeom>
          <a:solidFill>
            <a:srgbClr val="0B1020">
              <a:alpha val="6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3C7E0">
              <a:alpha val="86000"/>
            </a:srgbClr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Shape 4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Shape 5"/>
          <p:cNvSpPr/>
          <p:nvPr/>
        </p:nvSpPr>
        <p:spPr>
          <a:xfrm>
            <a:off x="502920" y="320040"/>
            <a:ext cx="367588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667512" y="374904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502920" y="1874520"/>
            <a:ext cx="1664208" cy="91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612648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48840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Shape 12"/>
          <p:cNvSpPr/>
          <p:nvPr/>
        </p:nvSpPr>
        <p:spPr>
          <a:xfrm>
            <a:off x="2404872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A3FF12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2404872" y="1874520"/>
            <a:ext cx="1664208" cy="9144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2514600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anomalies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050792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Shape 16"/>
          <p:cNvSpPr/>
          <p:nvPr/>
        </p:nvSpPr>
        <p:spPr>
          <a:xfrm>
            <a:off x="4306824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6C5CE7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0" name="Shape 17"/>
          <p:cNvSpPr/>
          <p:nvPr/>
        </p:nvSpPr>
        <p:spPr>
          <a:xfrm>
            <a:off x="4306824" y="1874520"/>
            <a:ext cx="1664208" cy="9144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8"/>
          <p:cNvSpPr/>
          <p:nvPr/>
        </p:nvSpPr>
        <p:spPr>
          <a:xfrm>
            <a:off x="4416552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52744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0"/>
          <p:cNvSpPr/>
          <p:nvPr/>
        </p:nvSpPr>
        <p:spPr>
          <a:xfrm>
            <a:off x="6208776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FFB000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4" name="Shape 21"/>
          <p:cNvSpPr/>
          <p:nvPr/>
        </p:nvSpPr>
        <p:spPr>
          <a:xfrm>
            <a:off x="6208776" y="1874520"/>
            <a:ext cx="1664208" cy="9144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2"/>
          <p:cNvSpPr/>
          <p:nvPr/>
        </p:nvSpPr>
        <p:spPr>
          <a:xfrm>
            <a:off x="6318504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854696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Shape 24"/>
          <p:cNvSpPr/>
          <p:nvPr/>
        </p:nvSpPr>
        <p:spPr>
          <a:xfrm>
            <a:off x="8110728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FF2D95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8" name="Shape 25"/>
          <p:cNvSpPr/>
          <p:nvPr/>
        </p:nvSpPr>
        <p:spPr>
          <a:xfrm>
            <a:off x="8110728" y="1874520"/>
            <a:ext cx="1664208" cy="91440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Text 26"/>
          <p:cNvSpPr/>
          <p:nvPr/>
        </p:nvSpPr>
        <p:spPr>
          <a:xfrm>
            <a:off x="8220456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final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756648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1" name="Shape 28"/>
          <p:cNvSpPr/>
          <p:nvPr/>
        </p:nvSpPr>
        <p:spPr>
          <a:xfrm>
            <a:off x="10012680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2" name="Shape 29"/>
          <p:cNvSpPr/>
          <p:nvPr/>
        </p:nvSpPr>
        <p:spPr>
          <a:xfrm>
            <a:off x="10012680" y="1874520"/>
            <a:ext cx="1664208" cy="91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0"/>
          <p:cNvSpPr/>
          <p:nvPr/>
        </p:nvSpPr>
        <p:spPr>
          <a:xfrm>
            <a:off x="10122408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02920" y="3108960"/>
            <a:ext cx="11686032" cy="34747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5" name="Shape 32"/>
          <p:cNvSpPr/>
          <p:nvPr/>
        </p:nvSpPr>
        <p:spPr>
          <a:xfrm>
            <a:off x="502920" y="3108960"/>
            <a:ext cx="91440" cy="347472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/>
          <p:cNvSpPr/>
          <p:nvPr/>
        </p:nvSpPr>
        <p:spPr>
          <a:xfrm>
            <a:off x="704088" y="3273552"/>
            <a:ext cx="11375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04088" y="3675888"/>
            <a:ext cx="1137513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Categorical: most-frequent imputation + one-hot encoding (handle_unknown=ignore)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Numerical: median imputation + standard scaling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Validation: Stratified K-Fold cross-validation with ROC-AUC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Artifacts: ROC curve, feature importance, score distribution checks, submission CSV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0" name="Text 36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2" name="Shape 38"/>
          <p:cNvSpPr/>
          <p:nvPr/>
        </p:nvSpPr>
        <p:spPr>
          <a:xfrm>
            <a:off x="9677094" y="6629400"/>
            <a:ext cx="1296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3" name="Text 39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E27D803C-B206-3A44-98AB-89E1AE324C6C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C2C84">
              <a:alpha val="86000"/>
            </a:srgbClr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48056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anomaly handling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806440" cy="1783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91440" cy="178308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704088" y="176479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5495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separation of categorical vs numerical features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values handled via imputers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for numeric stability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one-hot encoding for unseen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5806440" cy="2560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91440" cy="256032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373075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anomaly fix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4133088"/>
            <a:ext cx="54955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Credit dataset contains a placeholder value in DAYS_EMPLOYED (365243).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converts it to NaN and adds an explicit flag feature to preserve information.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650992" cy="452628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233055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6739128" y="1746504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data_processing.py (excerpt)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9128" y="2057400"/>
            <a:ext cx="5248656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fix_known_anomalies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"""Convert DAYS_EMPLOYED placeholder to NaN + add flag."""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"DAYS_EMPLOYED"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anom_val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365243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"DAYS_EMPLOYED_ANOM"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anom_val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anom_val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1"/>
          <p:cNvSpPr/>
          <p:nvPr/>
        </p:nvSpPr>
        <p:spPr>
          <a:xfrm>
            <a:off x="9677095" y="6629400"/>
            <a:ext cx="1440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2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C95D2E85-502E-A349-8704-B35D05284DE6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CDE1F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806440" cy="19659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91440" cy="196596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4088" y="176479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54955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Regression: stable baseline for sparse one-hot features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(optional): higher performance; enable with --prefer-lightgbm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LightGBM is missing/unusable, a warning is logged and Logistic Regression is used.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806440" cy="23774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91440" cy="2377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91363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4315968"/>
            <a:ext cx="54955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K-Fold cross-validation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ROC-AUC per fold + mean 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to detect leakage / instability early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650992" cy="452628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233055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39128" y="1746504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modeling.py (model selection + CV)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9128" y="2057400"/>
            <a:ext cx="5248656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400">
                <a:solidFill>
                  <a:srgbClr val="8292A2"/>
                </a:solidFill>
                <a:latin typeface="Consolas"/>
              </a:rPr>
              <a:t>1 def try_build_model(prefer_lightgbm: bool):</a:t>
            </a:r>
            <a:endParaRPr lang="en-US" sz="1200" dirty="0"/>
          </a:p>
          <a:p>
            <a:r>
              <a:rPr sz="1400">
                <a:solidFill>
                  <a:srgbClr val="8292A2"/>
                </a:solidFill>
                <a:latin typeface="Consolas"/>
              </a:rPr>
              <a:t>2     if prefer_lightgbm: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3         try: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4             from lightgbm import LGBMClassifier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5             return LGBMClassifier(**CONFIG.lgbm_params)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6         except Exception as e: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7             logger.warning('LightGBM not usable; falling back to LR')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8     return LogisticRegression(**CONFIG.logreg_params)</a:t>
            </a:r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1"/>
          <p:cNvSpPr/>
          <p:nvPr/>
        </p:nvSpPr>
        <p:spPr>
          <a:xfrm>
            <a:off x="9677095" y="6629400"/>
            <a:ext cx="1584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2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98834024-91BC-EB43-BD89-9DF31F983522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C000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2871216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664208"/>
            <a:ext cx="2148840" cy="82296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ROC-AUC (from generated ROC plot)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3429000" cy="3200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91440" cy="32004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30906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3493008"/>
            <a:ext cx="311810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Curve is well above the random baseline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Suitable as a baseline for iteration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via LightGBM parameters, feature engineering, and calibration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664208"/>
            <a:ext cx="8302752" cy="4462272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8" name="Image 0" descr="/mnt/data/Python_DS/plots/train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56" y="1792224"/>
            <a:ext cx="5257800" cy="42062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4" y="6629400"/>
            <a:ext cx="1728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B0693FE6-4A73-734A-825A-9C76C7CCEC13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305" y="9144"/>
            <a:ext cx="12191695" cy="841248"/>
          </a:xfrm>
          <a:prstGeom prst="rect">
            <a:avLst/>
          </a:prstGeom>
          <a:solidFill>
            <a:srgbClr val="5F51CA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279392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6629400" cy="4526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0" name="Image 0" descr="/mnt/data/Python_DS/plo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" y="1737360"/>
            <a:ext cx="531495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03720" y="1600200"/>
            <a:ext cx="5285232" cy="21488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6903720" y="1600200"/>
            <a:ext cx="91440" cy="214884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7104888" y="176479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as important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04888" y="2167128"/>
            <a:ext cx="49743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generated plot, high-impact signals include: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AMT_GOODS_PRICE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AMT_CREDIT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EXT_SOURCE_3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typically capture affordability + bureau-derived scores.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03720" y="3931920"/>
            <a:ext cx="5285232" cy="21945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6903720" y="3931920"/>
            <a:ext cx="91440" cy="219456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7104888" y="409651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04888" y="4498848"/>
            <a:ext cx="49743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Sanity-check: does the model rely on plausible signals?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data quality needs (missingness, scaling)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 next features (ratios, interactions, domain rules)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1872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8315440E-0006-B74F-BD0E-3E1CA1045475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3C7E0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367588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distribution checks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7452360" cy="4526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0" name="Image 0" descr="/mnt/data/Python_DS/plots/train_test_distribu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69745"/>
            <a:ext cx="7178040" cy="41871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600200"/>
            <a:ext cx="4005072" cy="23317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8183880" y="1600200"/>
            <a:ext cx="91440" cy="23317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8385048" y="1764792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 exists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5048" y="2167128"/>
            <a:ext cx="369417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distribution comparison helps spot: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train/test shift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 overconfidence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calibration issues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4069080"/>
            <a:ext cx="4005072" cy="2057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8183880" y="4069080"/>
            <a:ext cx="91440" cy="20574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8385048" y="4233672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guardrails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5048" y="4636008"/>
            <a:ext cx="369417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preprocessing across splits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 submissions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for preprocessing + modeling components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2016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415A727-D6B4-2F46-84BC-648350685B3F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ing_tablet_1800.png"/>
          <p:cNvPicPr>
            <a:picLocks noChangeAspect="1"/>
          </p:cNvPicPr>
          <p:nvPr/>
        </p:nvPicPr>
        <p:blipFill>
          <a:blip r:embed="rId3"/>
          <a:srcRect t="31243" b="3124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C2C84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Shape 4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Shape 5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" y="1691640"/>
            <a:ext cx="5760720" cy="2468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502920" y="1691640"/>
            <a:ext cx="91440" cy="246888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704088" y="1856232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088" y="2258568"/>
            <a:ext cx="54498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Modular, testable ML pipeline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preprocessing (impute / scale / OHE)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Dataset-specific anomaly handling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plots + submission export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performance snapshot (ROC-AUC)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251960"/>
            <a:ext cx="5760720" cy="21945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502920" y="4251960"/>
            <a:ext cx="91440" cy="2194560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704088" y="4416552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upgrades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088" y="4818888"/>
            <a:ext cx="54498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Add calibration (Platt / isotonic)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Tune LightGBM with early stopping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Add engineered ratios (credit-to-income, annuity-to-income)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Improve explainability (SHAP)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Add data validation checks (schema + drift)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37960" y="1691640"/>
            <a:ext cx="5650992" cy="4754880"/>
          </a:xfrm>
          <a:prstGeom prst="roundRect">
            <a:avLst/>
          </a:prstGeom>
          <a:solidFill>
            <a:srgbClr val="111A33">
              <a:alpha val="88000"/>
            </a:srgbClr>
          </a:solidFill>
          <a:ln w="12700">
            <a:solidFill>
              <a:srgbClr val="25304F">
                <a:alpha val="45000"/>
              </a:srgbClr>
            </a:solidFill>
            <a:prstDash val="solid"/>
          </a:ln>
          <a:effectLst>
            <a:outerShdw blurRad="50800" dist="15240" dir="27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20" name="Image 1" descr="/mnt/data/slide_assets/unsplash_trader_pointing_1800.png"/>
          <p:cNvPicPr>
            <a:picLocks noChangeAspect="1"/>
          </p:cNvPicPr>
          <p:nvPr/>
        </p:nvPicPr>
        <p:blipFill>
          <a:blip r:embed="rId4">
            <a:alphaModFix amt="90000"/>
          </a:blip>
          <a:srcRect t="24690" b="24690"/>
          <a:stretch/>
        </p:blipFill>
        <p:spPr>
          <a:xfrm>
            <a:off x="6537960" y="1691640"/>
            <a:ext cx="5650992" cy="4754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41008" y="1668780"/>
            <a:ext cx="5650992" cy="4754880"/>
          </a:xfrm>
          <a:prstGeom prst="rect">
            <a:avLst/>
          </a:prstGeom>
          <a:solidFill>
            <a:srgbClr val="0B1020">
              <a:alpha val="5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Text 18"/>
          <p:cNvSpPr/>
          <p:nvPr/>
        </p:nvSpPr>
        <p:spPr>
          <a:xfrm>
            <a:off x="6812280" y="576072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productionize the pipeline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monitoring + retraining hooks.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0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Shape 22"/>
          <p:cNvSpPr/>
          <p:nvPr/>
        </p:nvSpPr>
        <p:spPr>
          <a:xfrm>
            <a:off x="9677095" y="6629400"/>
            <a:ext cx="216000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8" name="Text 23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5D430A71-F3C0-5649-B9D6-90D6F857B7AF}" type="slidenum">
              <a:rPr lang="en-US" sz="1000" smtClean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fld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1997</Words>
  <Application>Microsoft Macintosh PowerPoint</Application>
  <PresentationFormat>Widescreen</PresentationFormat>
  <Paragraphs>263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Home Credit Default Risk - ML Pipeline (Python)</dc:subject>
  <dc:creator>Generated by ChatGPT</dc:creator>
  <cp:lastModifiedBy>Zoltán Bokó</cp:lastModifiedBy>
  <cp:revision>7</cp:revision>
  <dcterms:created xsi:type="dcterms:W3CDTF">2026-01-15T15:47:13Z</dcterms:created>
  <dcterms:modified xsi:type="dcterms:W3CDTF">2026-01-17T20:42:25Z</dcterms:modified>
</cp:coreProperties>
</file>