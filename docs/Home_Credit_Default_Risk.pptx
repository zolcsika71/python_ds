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0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Non-empty LOC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config.py</c:v>
                </c:pt>
                <c:pt idx="1">
                  <c:v>data_processing.py</c:v>
                </c:pt>
                <c:pt idx="2">
                  <c:v>modeling.py</c:v>
                </c:pt>
                <c:pt idx="3">
                  <c:v>visualization.py</c:v>
                </c:pt>
                <c:pt idx="4">
                  <c:v>orchestrator.py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35</c:v>
                </c:pt>
                <c:pt idx="2">
                  <c:v>84</c:v>
                </c:pt>
                <c:pt idx="3">
                  <c:v>115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F-EB4B-8863-E2C76906A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solidFill>
          <a:srgbClr val="0F1730"/>
        </a:solidFill>
        <a:ln w="12700" cap="flat">
          <a:solidFill>
            <a:srgbClr val="25304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1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Enhanced visual theme with Unsplash hero image.
[Sources]
- https://unsplash.com/photos/trading-charts-displayed-on-multiple-screens-and-tablet-vKNRKjSNbTo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Unsplash hero background used for visual emphasis.
[Sources]
- https://unsplash.com/photos/trader-analyzing-stock-market-charts-on-multiple-screens-j_hho1mE47s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Includes Unsplash image in the right-side panel.
[Sources]
- https://unsplash.com/photos/trader-analyzing-stock-market-charts-on-multiple-screens-j_hho1mE47s (image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6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6720840" cy="2971800"/>
          </a:xfrm>
          <a:prstGeom prst="roundRect">
            <a:avLst/>
          </a:prstGeom>
          <a:solidFill>
            <a:srgbClr val="111A33">
              <a:alpha val="82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778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 rot="-480000">
            <a:off x="118872" y="929044"/>
            <a:ext cx="777240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0392" y="3063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Machine Learning Pipeline (Python)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" y="35204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→ clean features → validated model → plots → submission-ready predictions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98280" y="16916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8"/>
          <p:cNvSpPr/>
          <p:nvPr/>
        </p:nvSpPr>
        <p:spPr>
          <a:xfrm>
            <a:off x="9098280" y="1691640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9"/>
          <p:cNvSpPr/>
          <p:nvPr/>
        </p:nvSpPr>
        <p:spPr>
          <a:xfrm>
            <a:off x="9098280" y="1947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235440" y="2514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(ROC-AUC)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98280" y="30632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9098280" y="3063240"/>
            <a:ext cx="2148840" cy="8229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3"/>
          <p:cNvSpPr/>
          <p:nvPr/>
        </p:nvSpPr>
        <p:spPr>
          <a:xfrm>
            <a:off x="9098280" y="33192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23544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44348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9098280" y="4434840"/>
            <a:ext cx="2148840" cy="82296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9098280" y="46908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9235440" y="5257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+ explainability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6" name="Shape 22"/>
          <p:cNvSpPr/>
          <p:nvPr/>
        </p:nvSpPr>
        <p:spPr>
          <a:xfrm>
            <a:off x="9677095" y="6629400"/>
            <a:ext cx="201168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000" dirty="0"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65BB49F4-8D42-72F7-AE28-73E0C5551B9E}"/>
              </a:ext>
            </a:extLst>
          </p:cNvPr>
          <p:cNvSpPr txBox="1"/>
          <p:nvPr/>
        </p:nvSpPr>
        <p:spPr>
          <a:xfrm>
            <a:off x="822960" y="4523392"/>
            <a:ext cx="5874612" cy="18825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sz="1300" b="1" dirty="0">
                <a:solidFill>
                  <a:srgbClr val="D6DBE8"/>
                </a:solidFill>
                <a:latin typeface="Calibri"/>
              </a:rPr>
              <a:t>Created by:</a:t>
            </a:r>
          </a:p>
          <a:p>
            <a:pPr>
              <a:spcAft>
                <a:spcPts val="1800"/>
              </a:spcAft>
            </a:pPr>
            <a:r>
              <a:rPr sz="1300" dirty="0">
                <a:solidFill>
                  <a:schemeClr val="bg1"/>
                </a:solidFill>
                <a:latin typeface="Calibri"/>
              </a:rPr>
              <a:t>Bokó Zoltán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Team members: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Molnár Sándor</a:t>
            </a: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Nagy Ádám</a:t>
            </a:r>
            <a:endParaRPr lang="hu-HU" sz="1300" b="0" dirty="0">
              <a:solidFill>
                <a:srgbClr val="D6DBE8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D6DBE8"/>
                </a:solidFill>
                <a:latin typeface="Calibri"/>
              </a:rPr>
              <a:t>Szabó Zoltán Géza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68172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modular ML workflow to estimate the probability that an applicant will have difficulty repaying a loan (TARGET = 1).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reproducibility and extension (baseline → boosted model), with rich evaluation artifacts.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9"/>
          <p:cNvSpPr/>
          <p:nvPr/>
        </p:nvSpPr>
        <p:spPr>
          <a:xfrm>
            <a:off x="6400800" y="1051560"/>
            <a:ext cx="91440" cy="1572768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10"/>
          <p:cNvSpPr/>
          <p:nvPr/>
        </p:nvSpPr>
        <p:spPr>
          <a:xfrm>
            <a:off x="6601968" y="12161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1618488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application_train.csv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application_test.csv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CV folds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LightGBM acceleration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761488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3"/>
          <p:cNvSpPr/>
          <p:nvPr/>
        </p:nvSpPr>
        <p:spPr>
          <a:xfrm>
            <a:off x="6400800" y="2761488"/>
            <a:ext cx="91440" cy="1572768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4"/>
          <p:cNvSpPr/>
          <p:nvPr/>
        </p:nvSpPr>
        <p:spPr>
          <a:xfrm>
            <a:off x="6601968" y="292608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332841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Submission-ready 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 curve +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vs test score distributions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471416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7"/>
          <p:cNvSpPr/>
          <p:nvPr/>
        </p:nvSpPr>
        <p:spPr>
          <a:xfrm>
            <a:off x="6400800" y="4471416"/>
            <a:ext cx="91440" cy="1572768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8"/>
          <p:cNvSpPr/>
          <p:nvPr/>
        </p:nvSpPr>
        <p:spPr>
          <a:xfrm>
            <a:off x="6601968" y="463600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5038344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CV (ROC-AUC)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encoding for unseen categories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artifacts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key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5715000" cy="25146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23" name="Image 0" descr="/mnt/data/hc_montage.png"/>
          <p:cNvPicPr>
            <a:picLocks noChangeAspect="1"/>
          </p:cNvPicPr>
          <p:nvPr/>
        </p:nvPicPr>
        <p:blipFill>
          <a:blip r:embed="rId3">
            <a:alphaModFix amt="88000"/>
          </a:blip>
          <a:srcRect l="21266" r="21266"/>
          <a:stretch/>
        </p:blipFill>
        <p:spPr>
          <a:xfrm>
            <a:off x="502920" y="3749040"/>
            <a:ext cx="5715000" cy="25146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" y="3749040"/>
            <a:ext cx="5715000" cy="2514600"/>
          </a:xfrm>
          <a:prstGeom prst="rect">
            <a:avLst/>
          </a:prstGeom>
          <a:solidFill>
            <a:srgbClr val="0B1020">
              <a:alpha val="4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2"/>
          <p:cNvSpPr/>
          <p:nvPr/>
        </p:nvSpPr>
        <p:spPr>
          <a:xfrm>
            <a:off x="822960" y="5760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make the pipeline easy to run, audit, and improve.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4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Shape 26"/>
          <p:cNvSpPr/>
          <p:nvPr/>
        </p:nvSpPr>
        <p:spPr>
          <a:xfrm>
            <a:off x="9677095" y="6629400"/>
            <a:ext cx="402336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7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2D95">
              <a:alpha val="86000"/>
            </a:srgbClr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09728" cy="694944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6642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19385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 entry point (options, data path, folds, model selection)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109728" cy="694944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24505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" y="27249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end-to-end workflow and artifact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109728" cy="694944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7"/>
          <p:cNvSpPr/>
          <p:nvPr/>
        </p:nvSpPr>
        <p:spPr>
          <a:xfrm>
            <a:off x="704088" y="32369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35112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+ fix known anomalies (DAYS_EMPLOYED placeholder)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109728" cy="694944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704088" y="40233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42976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+ cross-validated training (LR / LightGBM)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00016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6" name="Shape 24"/>
          <p:cNvSpPr/>
          <p:nvPr/>
        </p:nvSpPr>
        <p:spPr>
          <a:xfrm>
            <a:off x="502920" y="4700016"/>
            <a:ext cx="109728" cy="694944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704088" y="48097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visualization.py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" y="50840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 feature importance, distribution diagnostics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1051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footprint (non-empty LOC)</a:t>
            </a:r>
            <a:endParaRPr lang="en-US" sz="1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492240" y="1417320"/>
          <a:ext cx="5532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6492240" y="4526280"/>
            <a:ext cx="5532120" cy="15544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6492240" y="4526280"/>
            <a:ext cx="91440" cy="1554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6693408" y="46908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93408" y="5093208"/>
            <a:ext cx="5221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intentionally split into single-purpose modules so you can: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transformations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swap models without refactoring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consistent artifacts across runs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/>
          <p:cNvSpPr/>
          <p:nvPr/>
        </p:nvSpPr>
        <p:spPr>
          <a:xfrm>
            <a:off x="9677095" y="6629400"/>
            <a:ext cx="603504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er_pointing_1800.png"/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A3FF12">
              <a:alpha val="86000"/>
            </a:srgbClr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61264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48840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2404872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A3FF12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2404872" y="1874520"/>
            <a:ext cx="1664208" cy="914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2514600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anomalies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050792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4306824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6C5CE7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0" name="Shape 17"/>
          <p:cNvSpPr/>
          <p:nvPr/>
        </p:nvSpPr>
        <p:spPr>
          <a:xfrm>
            <a:off x="4306824" y="1874520"/>
            <a:ext cx="1664208" cy="9144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8"/>
          <p:cNvSpPr/>
          <p:nvPr/>
        </p:nvSpPr>
        <p:spPr>
          <a:xfrm>
            <a:off x="4416552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52744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0"/>
          <p:cNvSpPr/>
          <p:nvPr/>
        </p:nvSpPr>
        <p:spPr>
          <a:xfrm>
            <a:off x="6208776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Shape 21"/>
          <p:cNvSpPr/>
          <p:nvPr/>
        </p:nvSpPr>
        <p:spPr>
          <a:xfrm>
            <a:off x="6208776" y="1874520"/>
            <a:ext cx="1664208" cy="9144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2"/>
          <p:cNvSpPr/>
          <p:nvPr/>
        </p:nvSpPr>
        <p:spPr>
          <a:xfrm>
            <a:off x="6318504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854696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4"/>
          <p:cNvSpPr/>
          <p:nvPr/>
        </p:nvSpPr>
        <p:spPr>
          <a:xfrm>
            <a:off x="8110728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2D95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8" name="Shape 25"/>
          <p:cNvSpPr/>
          <p:nvPr/>
        </p:nvSpPr>
        <p:spPr>
          <a:xfrm>
            <a:off x="8110728" y="1874520"/>
            <a:ext cx="1664208" cy="9144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Text 26"/>
          <p:cNvSpPr/>
          <p:nvPr/>
        </p:nvSpPr>
        <p:spPr>
          <a:xfrm>
            <a:off x="8220456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756648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1" name="Shape 28"/>
          <p:cNvSpPr/>
          <p:nvPr/>
        </p:nvSpPr>
        <p:spPr>
          <a:xfrm>
            <a:off x="1001268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1001268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1012240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" y="3108960"/>
            <a:ext cx="11686032" cy="3474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5" name="Shape 32"/>
          <p:cNvSpPr/>
          <p:nvPr/>
        </p:nvSpPr>
        <p:spPr>
          <a:xfrm>
            <a:off x="502920" y="3108960"/>
            <a:ext cx="91440" cy="34747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704088" y="3273552"/>
            <a:ext cx="11375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4088" y="3675888"/>
            <a:ext cx="1137513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Categorical: most-frequent imputation + one-hot encoding (handle_unknown=ignore)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Numerical: median imputation + standard scaling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Stratified K-Fold cross-validation with ROC-AUC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Artifacts: ROC curve, feature importance, score distribution checks, submission CSV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0" name="Text 36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Shape 38"/>
          <p:cNvSpPr/>
          <p:nvPr/>
        </p:nvSpPr>
        <p:spPr>
          <a:xfrm>
            <a:off x="9677095" y="6629400"/>
            <a:ext cx="804672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3" name="Text 39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B000">
              <a:alpha val="86000"/>
            </a:srgbClr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48056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anomaly handling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783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78308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separation of categorical vs numerical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 handled via imputers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for numeric stability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one-hot encoding for unseen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806440" cy="2560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91440" cy="25603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73075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anomaly 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5495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Credit dataset contains a placeholder value in DAYS_EMPLOYED (365243).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converts it to NaN and adds an explicit flag feature to preserve information.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 (excerpt)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fix_known_anomalies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"""Convert DAYS_EMPLOYED placeholder to NaN + add flag."""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anom_val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365243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"DAYS_EMPLOYED_ANOM"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00584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C5CE7">
              <a:alpha val="86000"/>
            </a:srgbClr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9659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96596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Regression: stable baseline for sparse one-hot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(optional): higher performance; enable with --prefer-lightgbm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LightGBM is missing/unusable, a warning is logged and Logistic Regression is used.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806440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91440" cy="2377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91363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315968"/>
            <a:ext cx="54955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cross-validation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 per fold + mean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to detect leakage / instability early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 (model selection + CV)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400">
                <a:solidFill>
                  <a:srgbClr val="8292A2"/>
                </a:solidFill>
                <a:latin typeface="Consolas"/>
              </a:rPr>
              <a:t>1 def try_build_model(prefer_lightgbm: bool):</a:t>
            </a:r>
            <a:endParaRPr lang="en-US" sz="1200" dirty="0"/>
          </a:p>
          <a:p>
            <a:r>
              <a:rPr sz="1400">
                <a:solidFill>
                  <a:srgbClr val="8292A2"/>
                </a:solidFill>
                <a:latin typeface="Consolas"/>
              </a:rPr>
              <a:t>2     if prefer_lightgbm: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3         try: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4             from lightgbm import LGBMClassifier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5             return LGBMClassifier(**CONFIG.lgbm_params)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6         except Exception as e: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7             logger.warning('LightGBM not usable; falling back to LR')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8     return LogisticRegression(**CONFIG.logreg_params)</a:t>
            </a:r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207008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2871216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64208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ROC-AUC (from generated ROC plot)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3429000" cy="3200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91440" cy="3200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0906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31181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Curve is well above the random baseline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Suitable as a baseline for iteration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via LightGBM parameters, feature engineering, and calibration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664208"/>
            <a:ext cx="8302752" cy="44622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8" name="Image 0" descr="/mnt/data/Python_DS/plots/train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6" y="1792224"/>
            <a:ext cx="525780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408176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2D95">
              <a:alpha val="86000"/>
            </a:srgbClr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279392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662940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1737360"/>
            <a:ext cx="531495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1600200"/>
            <a:ext cx="5285232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6903720" y="1600200"/>
            <a:ext cx="91440" cy="21488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104888" y="176479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as important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04888" y="2167128"/>
            <a:ext cx="49743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generated plot, high-impact signals include: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AMT_GOODS_PRICE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AMT_CREDIT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EXT_SOURCE_3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typically capture affordability + bureau-derived scores.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03720" y="3931920"/>
            <a:ext cx="5285232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6903720" y="3931920"/>
            <a:ext cx="91440" cy="219456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104888" y="409651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04888" y="4498848"/>
            <a:ext cx="49743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Sanity-check: does the model rely on plausible signals?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data quality needs (missingness, scaling)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 next features (ratios, interactions, domain rules)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609344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A3FF12">
              <a:alpha val="86000"/>
            </a:srgbClr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distribution checks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745236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train_test_distribu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9745"/>
            <a:ext cx="7178040" cy="41871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600200"/>
            <a:ext cx="4005072" cy="2331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8183880" y="1600200"/>
            <a:ext cx="91440" cy="23317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8385048" y="176479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 exists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5048" y="2167128"/>
            <a:ext cx="369417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distribution comparison helps spot: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train/test shift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overconfidence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calibration issues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4069080"/>
            <a:ext cx="4005072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8183880" y="4069080"/>
            <a:ext cx="91440" cy="2057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8385048" y="423367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guardrails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5048" y="4636008"/>
            <a:ext cx="36941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preprocessing across splits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submissions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preprocessing + modeling components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810512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5760720" cy="2468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691640"/>
            <a:ext cx="91440" cy="246888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04088" y="185623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" y="2258568"/>
            <a:ext cx="54498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Modular, testable ML pipeline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preprocessing (impute / scale / OHE)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Dataset-specific anomaly handling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plots + submission export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performance snapshot (ROC-AUC)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251960"/>
            <a:ext cx="5760720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502920" y="4251960"/>
            <a:ext cx="91440" cy="219456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04088" y="441655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upgrades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088" y="4818888"/>
            <a:ext cx="54498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Add calibration (Platt / isotonic)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Tune LightGBM with early stopping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Add engineered ratios (credit-to-income, annuity-to-income)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Improve explainability (SHAP)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Add data validation checks (schema + drift)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37960" y="1691640"/>
            <a:ext cx="5650992" cy="4754880"/>
          </a:xfrm>
          <a:prstGeom prst="roundRect">
            <a:avLst/>
          </a:prstGeom>
          <a:solidFill>
            <a:srgbClr val="111A33">
              <a:alpha val="88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5240" dir="27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20" name="Image 1" descr="/mnt/data/slide_assets/unsplash_trader_pointing_1800.png"/>
          <p:cNvPicPr>
            <a:picLocks noChangeAspect="1"/>
          </p:cNvPicPr>
          <p:nvPr/>
        </p:nvPicPr>
        <p:blipFill>
          <a:blip r:embed="rId4">
            <a:alphaModFix amt="90000"/>
          </a:blip>
          <a:srcRect t="24690" b="24690"/>
          <a:stretch/>
        </p:blipFill>
        <p:spPr>
          <a:xfrm>
            <a:off x="6537960" y="1691640"/>
            <a:ext cx="5650992" cy="4754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37960" y="1691640"/>
            <a:ext cx="5650992" cy="4754880"/>
          </a:xfrm>
          <a:prstGeom prst="rect">
            <a:avLst/>
          </a:prstGeom>
          <a:solidFill>
            <a:srgbClr val="0B1020">
              <a:alpha val="5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18"/>
          <p:cNvSpPr/>
          <p:nvPr/>
        </p:nvSpPr>
        <p:spPr>
          <a:xfrm>
            <a:off x="6812280" y="576072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productionize the pipeline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monitoring + retraining hooks.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2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1157</Words>
  <Application>Microsoft Macintosh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Home Credit Default Risk - ML Pipeline (Python)</dc:subject>
  <dc:creator>Generated by ChatGPT</dc:creator>
  <cp:lastModifiedBy>Zoltán Bokó</cp:lastModifiedBy>
  <cp:revision>2</cp:revision>
  <dcterms:created xsi:type="dcterms:W3CDTF">2026-01-15T15:47:13Z</dcterms:created>
  <dcterms:modified xsi:type="dcterms:W3CDTF">2026-01-15T17:41:33Z</dcterms:modified>
</cp:coreProperties>
</file>